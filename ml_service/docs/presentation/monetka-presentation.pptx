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Приветствие. Приложение учит детей 7-11 лет управлять карманными деньгами через заботу о котике.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Проблема: дети распоряжаются деньгами раньше, чем понимают их. Нужен безопасный тренажёр.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Привязка к Единой рамке компетенций. Каждая компетенция измеряется метрикой витрины.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Три типа решений — это весь игровой цикл. Принципы задают тон продукта.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Сквозной сценарий Приложения А. Подчеркнуть: все величины считаются формулой, не моделью.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Что сделано и чего намеренно нет. Границы — это решение, а не недоработка.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Тёмно-золотой сеттинг отличает продукт. Доступность по рекомендациям Android.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Три слоя. Главное: приложение работает без платформы.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Контент как данные. Ошибка в контенте останавливает сборку.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Ключевой слайд защиты: ML не обязателен по ТЗ, поэтому его роль строго ограничена и проверена.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Цифры проверки. Отдельно: проверки качества умеют падать — это доказано тестами.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Честные ограничения повышают доверие. Ссылки на репозиторий и документацию.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1E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926080" y="4343400"/>
            <a:ext cx="6336792" cy="640080"/>
          </a:xfrm>
          <a:prstGeom prst="ellipse">
            <a:avLst/>
          </a:prstGeom>
          <a:solidFill>
            <a:srgbClr val="3029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257300" y="2125980"/>
            <a:ext cx="1051560" cy="1051560"/>
          </a:xfrm>
          <a:prstGeom prst="ellipse">
            <a:avLst/>
          </a:prstGeom>
          <a:solidFill>
            <a:srgbClr val="E5C78F"/>
          </a:solidFill>
          <a:ln w="15875">
            <a:solidFill>
              <a:srgbClr val="46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3000" b="1">
                <a:solidFill>
                  <a:srgbClr val="211E1C"/>
                </a:solidFill>
                <a:latin typeface="Cambria"/>
              </a:rPr>
              <a:t>₽</a:t>
            </a:r>
          </a:p>
        </p:txBody>
      </p:sp>
      <p:sp>
        <p:nvSpPr>
          <p:cNvPr id="5" name="Oval 4"/>
          <p:cNvSpPr/>
          <p:nvPr/>
        </p:nvSpPr>
        <p:spPr>
          <a:xfrm>
            <a:off x="9880092" y="2125980"/>
            <a:ext cx="1051560" cy="1051560"/>
          </a:xfrm>
          <a:prstGeom prst="ellipse">
            <a:avLst/>
          </a:prstGeom>
          <a:solidFill>
            <a:srgbClr val="E5C78F"/>
          </a:solidFill>
          <a:ln w="15875">
            <a:solidFill>
              <a:srgbClr val="46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3000" b="1">
                <a:solidFill>
                  <a:srgbClr val="211E1C"/>
                </a:solidFill>
                <a:latin typeface="Cambria"/>
              </a:rPr>
              <a:t>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1091153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600" b="1">
                <a:solidFill>
                  <a:srgbClr val="E5C78F"/>
                </a:solidFill>
                <a:latin typeface="Cambria"/>
              </a:rPr>
              <a:t>МОНЕТКА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127248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0">
                <a:solidFill>
                  <a:srgbClr val="F0DDC3"/>
                </a:solidFill>
                <a:latin typeface="Calibri"/>
              </a:rPr>
              <a:t>Мобильное приложение финансовой грамотности для детей 7–11 лет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39312"/>
            <a:ext cx="1091153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C4AA8E"/>
                </a:solidFill>
                <a:latin typeface="Calibri"/>
              </a:rPr>
              <a:t>Виртуальный котик, который растёт от разумных финансовых решений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138928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C4AA8E"/>
                </a:solidFill>
                <a:latin typeface="Calibri"/>
              </a:rPr>
              <a:t>Flutter  ·  Android 8.0+  ·  офлайн  ·  без регистрации и персональных данных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9436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>
                <a:solidFill>
                  <a:srgbClr val="716052"/>
                </a:solidFill>
                <a:latin typeface="Calibri"/>
              </a:rPr>
              <a:t>Департамент финансов города Москвы  ·  конкурсный прототип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1E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9115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E5C78F"/>
                </a:solidFill>
                <a:latin typeface="Cambria"/>
              </a:rPr>
              <a:t>Проблема и целевая аудитория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16152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C4AA8E"/>
                </a:solidFill>
                <a:latin typeface="Calibri"/>
              </a:rPr>
              <a:t>ТЗ §1 — контекст и актуальность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53949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F0DDC3"/>
                </a:solidFill>
                <a:latin typeface="Calibri"/>
              </a:rPr>
              <a:t>Дети получают карманные деньги, денежные подарки и участвуют в семейных покупках раньше, чем начинают понимать, откуда берутся деньги и как ими распоряжаться.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F0DDC3"/>
                </a:solidFill>
                <a:latin typeface="Calibri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F0DDC3"/>
                </a:solidFill>
                <a:latin typeface="Calibri"/>
              </a:rPr>
              <a:t>В 7–11 лет ребёнок уже умеет сравнивать цены и копить на понятную цель — но абстрактные объяснения про доходы и расходы быстро утомляют.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1783080"/>
            <a:ext cx="4967935" cy="3246120"/>
          </a:xfrm>
          <a:prstGeom prst="roundRect">
            <a:avLst>
              <a:gd name="adj" fmla="val 6000"/>
            </a:avLst>
          </a:prstGeom>
          <a:solidFill>
            <a:srgbClr val="2A2523"/>
          </a:solidFill>
          <a:ln w="12700">
            <a:solidFill>
              <a:srgbClr val="46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0" y="2057400"/>
            <a:ext cx="4236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E5C78F"/>
                </a:solidFill>
                <a:latin typeface="Calibri"/>
              </a:rPr>
              <a:t>ЧЕГО НЕ ХВАТАЕТ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2560320"/>
            <a:ext cx="4236415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400"/>
              </a:spcAft>
            </a:pPr>
            <a:r>
              <a:rPr sz="1100">
                <a:solidFill>
                  <a:srgbClr val="E5C78F"/>
                </a:solidFill>
                <a:latin typeface="Calibri"/>
              </a:rPr>
              <a:t>◆  </a:t>
            </a:r>
            <a:r>
              <a:rPr sz="1400">
                <a:solidFill>
                  <a:srgbClr val="F0DDC3"/>
                </a:solidFill>
                <a:latin typeface="Calibri"/>
              </a:rPr>
              <a:t>инструмента, где решение принимается самостоятельно</a:t>
            </a:r>
          </a:p>
          <a:p>
            <a:pPr>
              <a:lnSpc>
                <a:spcPct val="125000"/>
              </a:lnSpc>
              <a:spcAft>
                <a:spcPts val="1400"/>
              </a:spcAft>
            </a:pPr>
            <a:r>
              <a:rPr sz="1100">
                <a:solidFill>
                  <a:srgbClr val="E5C78F"/>
                </a:solidFill>
                <a:latin typeface="Calibri"/>
              </a:rPr>
              <a:t>◆  </a:t>
            </a:r>
            <a:r>
              <a:rPr sz="1400">
                <a:solidFill>
                  <a:srgbClr val="F0DDC3"/>
                </a:solidFill>
                <a:latin typeface="Calibri"/>
              </a:rPr>
              <a:t>мгновенно видимого последствия этого решения</a:t>
            </a:r>
          </a:p>
          <a:p>
            <a:pPr>
              <a:lnSpc>
                <a:spcPct val="125000"/>
              </a:lnSpc>
              <a:spcAft>
                <a:spcPts val="1400"/>
              </a:spcAft>
            </a:pPr>
            <a:r>
              <a:rPr sz="1100">
                <a:solidFill>
                  <a:srgbClr val="E5C78F"/>
                </a:solidFill>
                <a:latin typeface="Calibri"/>
              </a:rPr>
              <a:t>◆  </a:t>
            </a:r>
            <a:r>
              <a:rPr sz="1400">
                <a:solidFill>
                  <a:srgbClr val="F0DDC3"/>
                </a:solidFill>
                <a:latin typeface="Calibri"/>
              </a:rPr>
              <a:t>возможности ошибиться без риска и исправиться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60520"/>
            <a:ext cx="5394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D7AAA0"/>
                </a:solidFill>
                <a:latin typeface="Calibri"/>
              </a:rPr>
              <a:t>Формат виртуального питомца делает это наглядным: от распределения ресурсов зависит настроение и дальнейшее развитие персонажа.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138928"/>
            <a:ext cx="21945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E5C78F"/>
                </a:solidFill>
                <a:latin typeface="Cambria"/>
              </a:rPr>
              <a:t>7–11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742432"/>
            <a:ext cx="2194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C4AA8E"/>
                </a:solidFill>
                <a:latin typeface="Calibri"/>
              </a:rPr>
              <a:t>возраст основного</a:t>
            </a:r>
          </a:p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C4AA8E"/>
                </a:solidFill>
                <a:latin typeface="Calibri"/>
              </a:rPr>
              <a:t>пользователя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5138928"/>
            <a:ext cx="21945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E5C78F"/>
                </a:solidFill>
                <a:latin typeface="Cambria"/>
              </a:rPr>
              <a:t>0 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5742432"/>
            <a:ext cx="2194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C4AA8E"/>
                </a:solidFill>
                <a:latin typeface="Calibri"/>
              </a:rPr>
              <a:t>реальных денег</a:t>
            </a:r>
          </a:p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C4AA8E"/>
                </a:solidFill>
                <a:latin typeface="Calibri"/>
              </a:rPr>
              <a:t>в приложении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5138928"/>
            <a:ext cx="21945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E5C78F"/>
                </a:solidFill>
                <a:latin typeface="Cambria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5742432"/>
            <a:ext cx="2194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C4AA8E"/>
                </a:solidFill>
                <a:latin typeface="Calibri"/>
              </a:rPr>
              <a:t>компетенций</a:t>
            </a:r>
          </a:p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C4AA8E"/>
                </a:solidFill>
                <a:latin typeface="Calibri"/>
              </a:rPr>
              <a:t>Единой рамки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29107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716052"/>
                </a:solidFill>
                <a:latin typeface="Calibri"/>
              </a:rPr>
              <a:t>Целевая аудитория: дети, только знакомящиеся с карманными деньгами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29107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1">
                <a:solidFill>
                  <a:srgbClr val="463A28"/>
                </a:solidFill>
                <a:latin typeface="Cambria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1E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9115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E5C78F"/>
                </a:solidFill>
                <a:latin typeface="Cambria"/>
              </a:rPr>
              <a:t>Образовательные результаты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16152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C4AA8E"/>
                </a:solidFill>
                <a:latin typeface="Calibri"/>
              </a:rPr>
              <a:t>Единая рамка компетенций, раздел 6 — базовый уровень, начальное общее образование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3566160" cy="1874519"/>
          </a:xfrm>
          <a:prstGeom prst="roundRect">
            <a:avLst>
              <a:gd name="adj" fmla="val 6000"/>
            </a:avLst>
          </a:prstGeom>
          <a:solidFill>
            <a:srgbClr val="2A2523"/>
          </a:solidFill>
          <a:ln w="12700">
            <a:solidFill>
              <a:srgbClr val="46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23544" y="2093976"/>
            <a:ext cx="566928" cy="566928"/>
          </a:xfrm>
          <a:prstGeom prst="ellipse">
            <a:avLst/>
          </a:prstGeom>
          <a:solidFill>
            <a:srgbClr val="E5C78F"/>
          </a:solidFill>
          <a:ln w="15875">
            <a:solidFill>
              <a:srgbClr val="46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211E1C"/>
                </a:solidFill>
                <a:latin typeface="Cambr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139696"/>
            <a:ext cx="2194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E5C78F"/>
                </a:solidFill>
                <a:latin typeface="Cambria"/>
              </a:rPr>
              <a:t>Понимать назначение бюджета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999232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C4AA8E"/>
                </a:solidFill>
                <a:latin typeface="Calibri"/>
              </a:rPr>
              <a:t>расходы не превышают доходов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90288" y="1828800"/>
            <a:ext cx="3566160" cy="1874519"/>
          </a:xfrm>
          <a:prstGeom prst="roundRect">
            <a:avLst>
              <a:gd name="adj" fmla="val 6000"/>
            </a:avLst>
          </a:prstGeom>
          <a:solidFill>
            <a:srgbClr val="2A2523"/>
          </a:solidFill>
          <a:ln w="12700">
            <a:solidFill>
              <a:srgbClr val="46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873752" y="2093976"/>
            <a:ext cx="566928" cy="566928"/>
          </a:xfrm>
          <a:prstGeom prst="ellipse">
            <a:avLst/>
          </a:prstGeom>
          <a:solidFill>
            <a:srgbClr val="E5C78F"/>
          </a:solidFill>
          <a:ln w="15875">
            <a:solidFill>
              <a:srgbClr val="46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211E1C"/>
                </a:solidFill>
                <a:latin typeface="Cambr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96128" y="2139696"/>
            <a:ext cx="2194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E5C78F"/>
                </a:solidFill>
                <a:latin typeface="Cambria"/>
              </a:rPr>
              <a:t>Различать нужное и желаемое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10328" y="2999232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C4AA8E"/>
                </a:solidFill>
                <a:latin typeface="Calibri"/>
              </a:rPr>
              <a:t>обязательные и необязательные расходы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40496" y="1828800"/>
            <a:ext cx="3566160" cy="1874519"/>
          </a:xfrm>
          <a:prstGeom prst="roundRect">
            <a:avLst>
              <a:gd name="adj" fmla="val 6000"/>
            </a:avLst>
          </a:prstGeom>
          <a:solidFill>
            <a:srgbClr val="2A2523"/>
          </a:solidFill>
          <a:ln w="12700">
            <a:solidFill>
              <a:srgbClr val="46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823960" y="2093976"/>
            <a:ext cx="566928" cy="566928"/>
          </a:xfrm>
          <a:prstGeom prst="ellipse">
            <a:avLst/>
          </a:prstGeom>
          <a:solidFill>
            <a:srgbClr val="E5C78F"/>
          </a:solidFill>
          <a:ln w="15875">
            <a:solidFill>
              <a:srgbClr val="46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211E1C"/>
                </a:solidFill>
                <a:latin typeface="Cambr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46336" y="2139696"/>
            <a:ext cx="2194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E5C78F"/>
                </a:solidFill>
                <a:latin typeface="Cambria"/>
              </a:rPr>
              <a:t>Планировать в ограничении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0536" y="2999232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C4AA8E"/>
                </a:solidFill>
                <a:latin typeface="Calibri"/>
              </a:rPr>
              <a:t>решения при ограниченном бюджете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023359"/>
            <a:ext cx="3566160" cy="1874519"/>
          </a:xfrm>
          <a:prstGeom prst="roundRect">
            <a:avLst>
              <a:gd name="adj" fmla="val 6000"/>
            </a:avLst>
          </a:prstGeom>
          <a:solidFill>
            <a:srgbClr val="2A2523"/>
          </a:solidFill>
          <a:ln w="12700">
            <a:solidFill>
              <a:srgbClr val="46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23544" y="4288535"/>
            <a:ext cx="566928" cy="566928"/>
          </a:xfrm>
          <a:prstGeom prst="ellipse">
            <a:avLst/>
          </a:prstGeom>
          <a:solidFill>
            <a:srgbClr val="E5C78F"/>
          </a:solidFill>
          <a:ln w="15875">
            <a:solidFill>
              <a:srgbClr val="46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211E1C"/>
                </a:solidFill>
                <a:latin typeface="Cambr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4334255"/>
            <a:ext cx="2194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E5C78F"/>
                </a:solidFill>
                <a:latin typeface="Cambria"/>
              </a:rPr>
              <a:t>Ставить цель и копить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5193791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C4AA8E"/>
                </a:solidFill>
                <a:latin typeface="Calibri"/>
              </a:rPr>
              <a:t>краткосрочная цель, регулярные отчисления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90288" y="4023359"/>
            <a:ext cx="3566160" cy="1874519"/>
          </a:xfrm>
          <a:prstGeom prst="roundRect">
            <a:avLst>
              <a:gd name="adj" fmla="val 6000"/>
            </a:avLst>
          </a:prstGeom>
          <a:solidFill>
            <a:srgbClr val="2A2523"/>
          </a:solidFill>
          <a:ln w="12700">
            <a:solidFill>
              <a:srgbClr val="46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873752" y="4288535"/>
            <a:ext cx="566928" cy="566928"/>
          </a:xfrm>
          <a:prstGeom prst="ellipse">
            <a:avLst/>
          </a:prstGeom>
          <a:solidFill>
            <a:srgbClr val="E5C78F"/>
          </a:solidFill>
          <a:ln w="15875">
            <a:solidFill>
              <a:srgbClr val="46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211E1C"/>
                </a:solidFill>
                <a:latin typeface="Cambria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96128" y="4334255"/>
            <a:ext cx="2194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E5C78F"/>
                </a:solidFill>
                <a:latin typeface="Cambria"/>
              </a:rPr>
              <a:t>Оценивать свои решения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10328" y="5193791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C4AA8E"/>
                </a:solidFill>
                <a:latin typeface="Calibri"/>
              </a:rPr>
              <a:t>объяснять, к чему они привели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540496" y="4023359"/>
            <a:ext cx="3566160" cy="1874519"/>
          </a:xfrm>
          <a:prstGeom prst="roundRect">
            <a:avLst>
              <a:gd name="adj" fmla="val 6000"/>
            </a:avLst>
          </a:prstGeom>
          <a:solidFill>
            <a:srgbClr val="2A2523"/>
          </a:solidFill>
          <a:ln w="12700">
            <a:solidFill>
              <a:srgbClr val="46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823960" y="4288535"/>
            <a:ext cx="566928" cy="566928"/>
          </a:xfrm>
          <a:prstGeom prst="ellipse">
            <a:avLst/>
          </a:prstGeom>
          <a:solidFill>
            <a:srgbClr val="E5C78F"/>
          </a:solidFill>
          <a:ln w="15875">
            <a:solidFill>
              <a:srgbClr val="46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211E1C"/>
                </a:solidFill>
                <a:latin typeface="Cambria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46336" y="4334255"/>
            <a:ext cx="2194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E5C78F"/>
                </a:solidFill>
                <a:latin typeface="Cambria"/>
              </a:rPr>
              <a:t>Действовать со взрослым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0536" y="5193791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C4AA8E"/>
                </a:solidFill>
                <a:latin typeface="Calibri"/>
              </a:rPr>
              <a:t>приложение + значимый взрослый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29107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716052"/>
                </a:solidFill>
                <a:latin typeface="Calibri"/>
              </a:rPr>
              <a:t>Каждая компетенция привязана к заданию и к метрике витрины — content/competencies.yaml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02975" y="629107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1">
                <a:solidFill>
                  <a:srgbClr val="463A28"/>
                </a:solidFill>
                <a:latin typeface="Cambria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1E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9115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E5C78F"/>
                </a:solidFill>
                <a:latin typeface="Cambria"/>
              </a:rPr>
              <a:t>Идея продукта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16152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C4AA8E"/>
                </a:solidFill>
                <a:latin typeface="Calibri"/>
              </a:rPr>
              <a:t>Почему механика питомца формирует финансовый навык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1206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F0DDC3"/>
                </a:solidFill>
                <a:latin typeface="Calibri"/>
              </a:rPr>
              <a:t>Ребёнок принимает решение — и сразу видит, что изменилось.</a:t>
            </a:r>
          </a:p>
          <a:p>
            <a:pPr algn="l">
              <a:lnSpc>
                <a:spcPct val="135000"/>
              </a:lnSpc>
            </a:pPr>
            <a:r>
              <a:rPr sz="1600" b="0">
                <a:solidFill>
                  <a:srgbClr val="F0DDC3"/>
                </a:solidFill>
                <a:latin typeface="Calibri"/>
              </a:rPr>
              <a:t>Котик не абстрактный счёт: он реагирует, и реакцию можно объяснить одной фразой.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9184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E5C78F"/>
                </a:solidFill>
                <a:latin typeface="Calibri"/>
              </a:rPr>
              <a:t>ТРИ ТИПА РЕШЕНИЙ — ВЕСЬ ИГРОВОЙ ЦИКЛ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3785615"/>
            <a:ext cx="402336" cy="402336"/>
          </a:xfrm>
          <a:prstGeom prst="ellipse">
            <a:avLst/>
          </a:prstGeom>
          <a:solidFill>
            <a:srgbClr val="E5C78F"/>
          </a:solidFill>
          <a:ln w="15875">
            <a:solidFill>
              <a:srgbClr val="46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211E1C"/>
                </a:solidFill>
                <a:latin typeface="Cambria"/>
              </a:rPr>
              <a:t>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7008" y="3749039"/>
            <a:ext cx="4572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F0DDC3"/>
                </a:solidFill>
                <a:latin typeface="Calibri"/>
              </a:rPr>
              <a:t>Потратить на обязательное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8" y="4023359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C4AA8E"/>
                </a:solidFill>
                <a:latin typeface="Calibri"/>
              </a:rPr>
              <a:t>еда, уход, сон — котик бодрый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4498847"/>
            <a:ext cx="402336" cy="402336"/>
          </a:xfrm>
          <a:prstGeom prst="ellipse">
            <a:avLst/>
          </a:prstGeom>
          <a:solidFill>
            <a:srgbClr val="E5C78F"/>
          </a:solidFill>
          <a:ln w="15875">
            <a:solidFill>
              <a:srgbClr val="46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211E1C"/>
                </a:solidFill>
                <a:latin typeface="Cambria"/>
              </a:rPr>
              <a:t>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8" y="4462271"/>
            <a:ext cx="4572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F0DDC3"/>
                </a:solidFill>
                <a:latin typeface="Calibri"/>
              </a:rPr>
              <a:t>Потратить на желаемое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8" y="4736591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C4AA8E"/>
                </a:solidFill>
                <a:latin typeface="Calibri"/>
              </a:rPr>
              <a:t>игрушка, украшение — котик рад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5212079"/>
            <a:ext cx="402336" cy="402336"/>
          </a:xfrm>
          <a:prstGeom prst="ellipse">
            <a:avLst/>
          </a:prstGeom>
          <a:solidFill>
            <a:srgbClr val="E5C78F"/>
          </a:solidFill>
          <a:ln w="15875">
            <a:solidFill>
              <a:srgbClr val="46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211E1C"/>
                </a:solidFill>
                <a:latin typeface="Cambria"/>
              </a:rPr>
              <a:t>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7008" y="5175503"/>
            <a:ext cx="4572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F0DDC3"/>
                </a:solidFill>
                <a:latin typeface="Calibri"/>
              </a:rPr>
              <a:t>Отложить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7008" y="5449823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C4AA8E"/>
                </a:solidFill>
                <a:latin typeface="Calibri"/>
              </a:rPr>
              <a:t>цель становится ближе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1783080"/>
            <a:ext cx="5059375" cy="4160520"/>
          </a:xfrm>
          <a:prstGeom prst="roundRect">
            <a:avLst>
              <a:gd name="adj" fmla="val 6000"/>
            </a:avLst>
          </a:prstGeom>
          <a:solidFill>
            <a:srgbClr val="2A2523"/>
          </a:solidFill>
          <a:ln w="12700">
            <a:solidFill>
              <a:srgbClr val="46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03720" y="2103120"/>
            <a:ext cx="4236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E5C78F"/>
                </a:solidFill>
                <a:latin typeface="Calibri"/>
              </a:rPr>
              <a:t>ПРИНЦИПЫ РЕШЕНИЯ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2560320"/>
            <a:ext cx="4236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D7AAA0"/>
                </a:solidFill>
                <a:latin typeface="Calibri"/>
              </a:rPr>
              <a:t>Обучение действием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2816352"/>
            <a:ext cx="4236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C4AA8E"/>
                </a:solidFill>
                <a:latin typeface="Calibri"/>
              </a:rPr>
              <a:t>сначала выбор, потом видимое последствие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3218688"/>
            <a:ext cx="4236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D7AAA0"/>
                </a:solidFill>
                <a:latin typeface="Calibri"/>
              </a:rPr>
              <a:t>Объяснимость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3474720"/>
            <a:ext cx="4236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C4AA8E"/>
                </a:solidFill>
                <a:latin typeface="Calibri"/>
              </a:rPr>
              <a:t>ответ на «что изменилось и почему»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20" y="3877056"/>
            <a:ext cx="4236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D7AAA0"/>
                </a:solidFill>
                <a:latin typeface="Calibri"/>
              </a:rPr>
              <a:t>Безопасная ошибка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4133088"/>
            <a:ext cx="4236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C4AA8E"/>
                </a:solidFill>
                <a:latin typeface="Calibri"/>
              </a:rPr>
              <a:t>неудача — учебная задача, а не потеря прогресса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535424"/>
            <a:ext cx="4236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D7AAA0"/>
                </a:solidFill>
                <a:latin typeface="Calibri"/>
              </a:rPr>
              <a:t>Возрастная уместность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3720" y="4791456"/>
            <a:ext cx="4236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C4AA8E"/>
                </a:solidFill>
                <a:latin typeface="Calibri"/>
              </a:rPr>
              <a:t>короткие фразы, целые числа, крупные элементы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3720" y="5193792"/>
            <a:ext cx="4236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D7AAA0"/>
                </a:solidFill>
                <a:latin typeface="Calibri"/>
              </a:rPr>
              <a:t>Финансовая нейтральность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5449824"/>
            <a:ext cx="4236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C4AA8E"/>
                </a:solidFill>
                <a:latin typeface="Calibri"/>
              </a:rPr>
              <a:t>без рекламы продуктов и персональных советов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29107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716052"/>
                </a:solidFill>
                <a:latin typeface="Calibri"/>
              </a:rPr>
              <a:t>ТЗ §2.1–2.2 — цель продукта и принципы решения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29107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1">
                <a:solidFill>
                  <a:srgbClr val="463A28"/>
                </a:solidFill>
                <a:latin typeface="Cambria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1E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9115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E5C78F"/>
                </a:solidFill>
                <a:latin typeface="Cambria"/>
              </a:rPr>
              <a:t>Пользовательский путь и игровая экономика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16152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C4AA8E"/>
                </a:solidFill>
                <a:latin typeface="Calibri"/>
              </a:rPr>
              <a:t>ТЗ §2.4, Приложение А — сквозной сценарий</a:t>
            </a:r>
          </a:p>
        </p:txBody>
      </p:sp>
      <p:sp>
        <p:nvSpPr>
          <p:cNvPr id="5" name="Oval 4"/>
          <p:cNvSpPr/>
          <p:nvPr/>
        </p:nvSpPr>
        <p:spPr>
          <a:xfrm>
            <a:off x="891540" y="1965960"/>
            <a:ext cx="658368" cy="658368"/>
          </a:xfrm>
          <a:prstGeom prst="ellipse">
            <a:avLst/>
          </a:prstGeom>
          <a:solidFill>
            <a:srgbClr val="E5C78F"/>
          </a:solidFill>
          <a:ln w="15875">
            <a:solidFill>
              <a:srgbClr val="46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>
                <a:solidFill>
                  <a:srgbClr val="211E1C"/>
                </a:solidFill>
                <a:latin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70632"/>
            <a:ext cx="11612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E5C78F"/>
                </a:solidFill>
                <a:latin typeface="Cambria"/>
              </a:rPr>
              <a:t>Профиль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63240"/>
            <a:ext cx="116128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C4AA8E"/>
                </a:solidFill>
                <a:latin typeface="Calibri"/>
              </a:rPr>
              <a:t>гостевой режим,</a:t>
            </a:r>
          </a:p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C4AA8E"/>
                </a:solidFill>
                <a:latin typeface="Calibri"/>
              </a:rPr>
              <a:t>без регистрации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01368" y="2167128"/>
            <a:ext cx="2240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0">
                <a:solidFill>
                  <a:srgbClr val="463A28"/>
                </a:solidFill>
                <a:latin typeface="Calibri"/>
              </a:rPr>
              <a:t>›</a:t>
            </a:r>
          </a:p>
        </p:txBody>
      </p:sp>
      <p:sp>
        <p:nvSpPr>
          <p:cNvPr id="9" name="Oval 8"/>
          <p:cNvSpPr/>
          <p:nvPr/>
        </p:nvSpPr>
        <p:spPr>
          <a:xfrm>
            <a:off x="2276856" y="1965960"/>
            <a:ext cx="658368" cy="658368"/>
          </a:xfrm>
          <a:prstGeom prst="ellipse">
            <a:avLst/>
          </a:prstGeom>
          <a:solidFill>
            <a:srgbClr val="E5C78F"/>
          </a:solidFill>
          <a:ln w="15875">
            <a:solidFill>
              <a:srgbClr val="46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>
                <a:solidFill>
                  <a:srgbClr val="211E1C"/>
                </a:solidFill>
                <a:latin typeface="Cambria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25396" y="2770632"/>
            <a:ext cx="11612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E5C78F"/>
                </a:solidFill>
                <a:latin typeface="Cambria"/>
              </a:rPr>
              <a:t>Котик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25396" y="3063240"/>
            <a:ext cx="116128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C4AA8E"/>
                </a:solidFill>
                <a:latin typeface="Calibri"/>
              </a:rPr>
              <a:t>внешний вид</a:t>
            </a:r>
          </a:p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C4AA8E"/>
                </a:solidFill>
                <a:latin typeface="Calibri"/>
              </a:rPr>
              <a:t>и имя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86684" y="2167128"/>
            <a:ext cx="2240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0">
                <a:solidFill>
                  <a:srgbClr val="463A28"/>
                </a:solidFill>
                <a:latin typeface="Calibri"/>
              </a:rPr>
              <a:t>›</a:t>
            </a:r>
          </a:p>
        </p:txBody>
      </p:sp>
      <p:sp>
        <p:nvSpPr>
          <p:cNvPr id="13" name="Oval 12"/>
          <p:cNvSpPr/>
          <p:nvPr/>
        </p:nvSpPr>
        <p:spPr>
          <a:xfrm>
            <a:off x="3662172" y="1965960"/>
            <a:ext cx="658368" cy="658368"/>
          </a:xfrm>
          <a:prstGeom prst="ellipse">
            <a:avLst/>
          </a:prstGeom>
          <a:solidFill>
            <a:srgbClr val="E5C78F"/>
          </a:solidFill>
          <a:ln w="15875">
            <a:solidFill>
              <a:srgbClr val="46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>
                <a:solidFill>
                  <a:srgbClr val="211E1C"/>
                </a:solidFill>
                <a:latin typeface="Cambria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10712" y="2770632"/>
            <a:ext cx="11612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E5C78F"/>
                </a:solidFill>
                <a:latin typeface="Cambria"/>
              </a:rPr>
              <a:t>Доход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10712" y="3063240"/>
            <a:ext cx="116128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C4AA8E"/>
                </a:solidFill>
                <a:latin typeface="Calibri"/>
              </a:rPr>
              <a:t>источник и сумма</a:t>
            </a:r>
          </a:p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C4AA8E"/>
                </a:solidFill>
                <a:latin typeface="Calibri"/>
              </a:rPr>
              <a:t>всегда названы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167128"/>
            <a:ext cx="2240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0">
                <a:solidFill>
                  <a:srgbClr val="463A28"/>
                </a:solidFill>
                <a:latin typeface="Calibri"/>
              </a:rPr>
              <a:t>›</a:t>
            </a:r>
          </a:p>
        </p:txBody>
      </p:sp>
      <p:sp>
        <p:nvSpPr>
          <p:cNvPr id="17" name="Oval 16"/>
          <p:cNvSpPr/>
          <p:nvPr/>
        </p:nvSpPr>
        <p:spPr>
          <a:xfrm>
            <a:off x="5047488" y="1965960"/>
            <a:ext cx="658368" cy="658368"/>
          </a:xfrm>
          <a:prstGeom prst="ellipse">
            <a:avLst/>
          </a:prstGeom>
          <a:solidFill>
            <a:srgbClr val="E5C78F"/>
          </a:solidFill>
          <a:ln w="15875">
            <a:solidFill>
              <a:srgbClr val="46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>
                <a:solidFill>
                  <a:srgbClr val="211E1C"/>
                </a:solidFill>
                <a:latin typeface="Cambria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96028" y="2770632"/>
            <a:ext cx="11612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E5C78F"/>
                </a:solidFill>
                <a:latin typeface="Cambria"/>
              </a:rPr>
              <a:t>План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96028" y="3063240"/>
            <a:ext cx="116128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C4AA8E"/>
                </a:solidFill>
                <a:latin typeface="Calibri"/>
              </a:rPr>
              <a:t>три направления,</a:t>
            </a:r>
          </a:p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C4AA8E"/>
                </a:solidFill>
                <a:latin typeface="Calibri"/>
              </a:rPr>
              <a:t>больше бюджета нельзя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57316" y="2167128"/>
            <a:ext cx="2240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0">
                <a:solidFill>
                  <a:srgbClr val="463A28"/>
                </a:solidFill>
                <a:latin typeface="Calibri"/>
              </a:rPr>
              <a:t>›</a:t>
            </a:r>
          </a:p>
        </p:txBody>
      </p:sp>
      <p:sp>
        <p:nvSpPr>
          <p:cNvPr id="21" name="Oval 20"/>
          <p:cNvSpPr/>
          <p:nvPr/>
        </p:nvSpPr>
        <p:spPr>
          <a:xfrm>
            <a:off x="6432804" y="1965960"/>
            <a:ext cx="658368" cy="658368"/>
          </a:xfrm>
          <a:prstGeom prst="ellipse">
            <a:avLst/>
          </a:prstGeom>
          <a:solidFill>
            <a:srgbClr val="E5C78F"/>
          </a:solidFill>
          <a:ln w="15875">
            <a:solidFill>
              <a:srgbClr val="46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>
                <a:solidFill>
                  <a:srgbClr val="211E1C"/>
                </a:solidFill>
                <a:latin typeface="Cambria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81344" y="2770632"/>
            <a:ext cx="11612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E5C78F"/>
                </a:solidFill>
                <a:latin typeface="Cambria"/>
              </a:rPr>
              <a:t>Задания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81344" y="3063240"/>
            <a:ext cx="116128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C4AA8E"/>
                </a:solidFill>
                <a:latin typeface="Calibri"/>
              </a:rPr>
              <a:t>ситуация с выбором</a:t>
            </a:r>
          </a:p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C4AA8E"/>
                </a:solidFill>
                <a:latin typeface="Calibri"/>
              </a:rPr>
              <a:t>и объяснением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42632" y="2167128"/>
            <a:ext cx="2240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0">
                <a:solidFill>
                  <a:srgbClr val="463A28"/>
                </a:solidFill>
                <a:latin typeface="Calibri"/>
              </a:rPr>
              <a:t>›</a:t>
            </a:r>
          </a:p>
        </p:txBody>
      </p:sp>
      <p:sp>
        <p:nvSpPr>
          <p:cNvPr id="25" name="Oval 24"/>
          <p:cNvSpPr/>
          <p:nvPr/>
        </p:nvSpPr>
        <p:spPr>
          <a:xfrm>
            <a:off x="7818120" y="1965960"/>
            <a:ext cx="658368" cy="658368"/>
          </a:xfrm>
          <a:prstGeom prst="ellipse">
            <a:avLst/>
          </a:prstGeom>
          <a:solidFill>
            <a:srgbClr val="E5C78F"/>
          </a:solidFill>
          <a:ln w="15875">
            <a:solidFill>
              <a:srgbClr val="46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>
                <a:solidFill>
                  <a:srgbClr val="211E1C"/>
                </a:solidFill>
                <a:latin typeface="Cambria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66660" y="2770632"/>
            <a:ext cx="11612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E5C78F"/>
                </a:solidFill>
                <a:latin typeface="Cambria"/>
              </a:rPr>
              <a:t>Покупки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66660" y="3063240"/>
            <a:ext cx="116128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C4AA8E"/>
                </a:solidFill>
                <a:latin typeface="Calibri"/>
              </a:rPr>
              <a:t>цена, категория,</a:t>
            </a:r>
          </a:p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C4AA8E"/>
                </a:solidFill>
                <a:latin typeface="Calibri"/>
              </a:rPr>
              <a:t>влияние — до покупки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27948" y="2167128"/>
            <a:ext cx="2240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0">
                <a:solidFill>
                  <a:srgbClr val="463A28"/>
                </a:solidFill>
                <a:latin typeface="Calibri"/>
              </a:rPr>
              <a:t>›</a:t>
            </a:r>
          </a:p>
        </p:txBody>
      </p:sp>
      <p:sp>
        <p:nvSpPr>
          <p:cNvPr id="29" name="Oval 28"/>
          <p:cNvSpPr/>
          <p:nvPr/>
        </p:nvSpPr>
        <p:spPr>
          <a:xfrm>
            <a:off x="9203436" y="1965960"/>
            <a:ext cx="658368" cy="658368"/>
          </a:xfrm>
          <a:prstGeom prst="ellipse">
            <a:avLst/>
          </a:prstGeom>
          <a:solidFill>
            <a:srgbClr val="E5C78F"/>
          </a:solidFill>
          <a:ln w="15875">
            <a:solidFill>
              <a:srgbClr val="46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>
                <a:solidFill>
                  <a:srgbClr val="211E1C"/>
                </a:solidFill>
                <a:latin typeface="Cambria"/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51976" y="2770632"/>
            <a:ext cx="11612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E5C78F"/>
                </a:solidFill>
                <a:latin typeface="Cambria"/>
              </a:rPr>
              <a:t>Копилка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51976" y="3063240"/>
            <a:ext cx="116128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C4AA8E"/>
                </a:solidFill>
                <a:latin typeface="Calibri"/>
              </a:rPr>
              <a:t>цель, срок</a:t>
            </a:r>
          </a:p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C4AA8E"/>
                </a:solidFill>
                <a:latin typeface="Calibri"/>
              </a:rPr>
              <a:t>по средней сумме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13264" y="2167128"/>
            <a:ext cx="2240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0">
                <a:solidFill>
                  <a:srgbClr val="463A28"/>
                </a:solidFill>
                <a:latin typeface="Calibri"/>
              </a:rPr>
              <a:t>›</a:t>
            </a:r>
          </a:p>
        </p:txBody>
      </p:sp>
      <p:sp>
        <p:nvSpPr>
          <p:cNvPr id="33" name="Oval 32"/>
          <p:cNvSpPr/>
          <p:nvPr/>
        </p:nvSpPr>
        <p:spPr>
          <a:xfrm>
            <a:off x="10588752" y="1965960"/>
            <a:ext cx="658368" cy="658368"/>
          </a:xfrm>
          <a:prstGeom prst="ellipse">
            <a:avLst/>
          </a:prstGeom>
          <a:solidFill>
            <a:srgbClr val="E5C78F"/>
          </a:solidFill>
          <a:ln w="15875">
            <a:solidFill>
              <a:srgbClr val="46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>
                <a:solidFill>
                  <a:srgbClr val="211E1C"/>
                </a:solidFill>
                <a:latin typeface="Cambria"/>
              </a:rPr>
              <a:t>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37292" y="2770632"/>
            <a:ext cx="11612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E5C78F"/>
                </a:solidFill>
                <a:latin typeface="Cambria"/>
              </a:rPr>
              <a:t>Итог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37292" y="3063240"/>
            <a:ext cx="116128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C4AA8E"/>
                </a:solidFill>
                <a:latin typeface="Calibri"/>
              </a:rPr>
              <a:t>план против факта,</a:t>
            </a:r>
          </a:p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C4AA8E"/>
                </a:solidFill>
                <a:latin typeface="Calibri"/>
              </a:rPr>
              <a:t>реакция котика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38862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D7AAA0"/>
                </a:solidFill>
                <a:latin typeface="Calibri"/>
              </a:rPr>
              <a:t>Цикл повторяется. Стадия котика меняется по совокупности решений за несколько периодов.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4343400"/>
            <a:ext cx="10911535" cy="1737360"/>
          </a:xfrm>
          <a:prstGeom prst="roundRect">
            <a:avLst>
              <a:gd name="adj" fmla="val 6000"/>
            </a:avLst>
          </a:prstGeom>
          <a:solidFill>
            <a:srgbClr val="2A2523"/>
          </a:solidFill>
          <a:ln w="12700">
            <a:solidFill>
              <a:srgbClr val="46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51560" y="4572000"/>
            <a:ext cx="100885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E5C78F"/>
                </a:solidFill>
                <a:latin typeface="Calibri"/>
              </a:rPr>
              <a:t>ФОРМУЛЫ ЭКОНОМИКИ — ДЕТЕРМИНИРОВАННЫЕ И ОБЪЯСНИМЫЕ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" y="4983480"/>
            <a:ext cx="33375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C4AA8E"/>
                </a:solidFill>
                <a:latin typeface="Calibri"/>
              </a:rPr>
              <a:t>Соответствие плану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5266944"/>
            <a:ext cx="3337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0DDC3"/>
                </a:solidFill>
                <a:latin typeface="Cambria"/>
              </a:rPr>
              <a:t>1 − Σ|факт − план| / план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26280" y="4983480"/>
            <a:ext cx="33375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C4AA8E"/>
                </a:solidFill>
                <a:latin typeface="Calibri"/>
              </a:rPr>
              <a:t>Покрытие обязательного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26280" y="5266944"/>
            <a:ext cx="3337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0DDC3"/>
                </a:solidFill>
                <a:latin typeface="Cambria"/>
              </a:rPr>
              <a:t>факт / потребность периода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01000" y="4983480"/>
            <a:ext cx="33375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C4AA8E"/>
                </a:solidFill>
                <a:latin typeface="Calibri"/>
              </a:rPr>
              <a:t>Срок до цели, с округлением вверх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01000" y="5266944"/>
            <a:ext cx="3337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0DDC3"/>
                </a:solidFill>
                <a:latin typeface="Cambria"/>
              </a:rPr>
              <a:t>(стоимость − накоплено) / средний взнос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" y="629107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716052"/>
                </a:solidFill>
                <a:latin typeface="Calibri"/>
              </a:rPr>
              <a:t>Ни одна из этих величин не предсказывается моделью — все считаются формулой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002975" y="629107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1">
                <a:solidFill>
                  <a:srgbClr val="463A28"/>
                </a:solidFill>
                <a:latin typeface="Cambria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1E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9115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E5C78F"/>
                </a:solidFill>
                <a:latin typeface="Cambria"/>
              </a:rPr>
              <a:t>Обязательные функции и границы прототипа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16152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C4AA8E"/>
                </a:solidFill>
                <a:latin typeface="Calibri"/>
              </a:rPr>
              <a:t>ТЗ §2.5 — что реализовано, §2.7 — чего намеренно нет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5486400" cy="4160520"/>
          </a:xfrm>
          <a:prstGeom prst="roundRect">
            <a:avLst>
              <a:gd name="adj" fmla="val 6000"/>
            </a:avLst>
          </a:prstGeom>
          <a:solidFill>
            <a:srgbClr val="2A2523"/>
          </a:solidFill>
          <a:ln w="12700">
            <a:solidFill>
              <a:srgbClr val="46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2057400"/>
            <a:ext cx="471830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E5C78F"/>
                </a:solidFill>
                <a:latin typeface="Calibri"/>
              </a:rPr>
              <a:t>РЕАЛИЗОВАНО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514600"/>
            <a:ext cx="4718304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000">
                <a:solidFill>
                  <a:srgbClr val="E5C78F"/>
                </a:solidFill>
                <a:latin typeface="Calibri"/>
              </a:rPr>
              <a:t>◆  </a:t>
            </a:r>
            <a:r>
              <a:rPr sz="1300">
                <a:solidFill>
                  <a:srgbClr val="F0DDC3"/>
                </a:solidFill>
                <a:latin typeface="Calibri"/>
              </a:rPr>
              <a:t>Гостевой режим без регистрации и без персональных данных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000">
                <a:solidFill>
                  <a:srgbClr val="E5C78F"/>
                </a:solidFill>
                <a:latin typeface="Calibri"/>
              </a:rPr>
              <a:t>◆  </a:t>
            </a:r>
            <a:r>
              <a:rPr sz="1300">
                <a:solidFill>
                  <a:srgbClr val="F0DDC3"/>
                </a:solidFill>
                <a:latin typeface="Calibri"/>
              </a:rPr>
              <a:t>План бюджета по трём направлениям с контролем превышения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000">
                <a:solidFill>
                  <a:srgbClr val="E5C78F"/>
                </a:solidFill>
                <a:latin typeface="Calibri"/>
              </a:rPr>
              <a:t>◆  </a:t>
            </a:r>
            <a:r>
              <a:rPr sz="1300">
                <a:solidFill>
                  <a:srgbClr val="F0DDC3"/>
                </a:solidFill>
                <a:latin typeface="Calibri"/>
              </a:rPr>
              <a:t>Каталог из 14 позиций: обязательные и необязательные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000">
                <a:solidFill>
                  <a:srgbClr val="E5C78F"/>
                </a:solidFill>
                <a:latin typeface="Calibri"/>
              </a:rPr>
              <a:t>◆  </a:t>
            </a:r>
            <a:r>
              <a:rPr sz="1300">
                <a:solidFill>
                  <a:srgbClr val="F0DDC3"/>
                </a:solidFill>
                <a:latin typeface="Calibri"/>
              </a:rPr>
              <a:t>9 заданий по трём темам с объяснением любого ответа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000">
                <a:solidFill>
                  <a:srgbClr val="E5C78F"/>
                </a:solidFill>
                <a:latin typeface="Calibri"/>
              </a:rPr>
              <a:t>◆  </a:t>
            </a:r>
            <a:r>
              <a:rPr sz="1300">
                <a:solidFill>
                  <a:srgbClr val="F0DDC3"/>
                </a:solidFill>
                <a:latin typeface="Calibri"/>
              </a:rPr>
              <a:t>5 целей накопления, понятный срок по средней сумме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000">
                <a:solidFill>
                  <a:srgbClr val="E5C78F"/>
                </a:solidFill>
                <a:latin typeface="Calibri"/>
              </a:rPr>
              <a:t>◆  </a:t>
            </a:r>
            <a:r>
              <a:rPr sz="1300">
                <a:solidFill>
                  <a:srgbClr val="F0DDC3"/>
                </a:solidFill>
                <a:latin typeface="Calibri"/>
              </a:rPr>
              <a:t>27 комбинаций котика, 4 стадии развития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000">
                <a:solidFill>
                  <a:srgbClr val="E5C78F"/>
                </a:solidFill>
                <a:latin typeface="Calibri"/>
              </a:rPr>
              <a:t>◆  </a:t>
            </a:r>
            <a:r>
              <a:rPr sz="1300">
                <a:solidFill>
                  <a:srgbClr val="F0DDC3"/>
                </a:solidFill>
                <a:latin typeface="Calibri"/>
              </a:rPr>
              <a:t>Демонстрационный режим и сброс тестового профиля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000">
                <a:solidFill>
                  <a:srgbClr val="E5C78F"/>
                </a:solidFill>
                <a:latin typeface="Calibri"/>
              </a:rPr>
              <a:t>◆  </a:t>
            </a:r>
            <a:r>
              <a:rPr sz="1300">
                <a:solidFill>
                  <a:srgbClr val="F0DDC3"/>
                </a:solidFill>
                <a:latin typeface="Calibri"/>
              </a:rPr>
              <a:t>Раздел взрослого за простым барьером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1783080"/>
            <a:ext cx="4876495" cy="4160520"/>
          </a:xfrm>
          <a:prstGeom prst="roundRect">
            <a:avLst>
              <a:gd name="adj" fmla="val 6000"/>
            </a:avLst>
          </a:prstGeom>
          <a:solidFill>
            <a:srgbClr val="302923"/>
          </a:solidFill>
          <a:ln w="12700">
            <a:solidFill>
              <a:srgbClr val="46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59168" y="2057400"/>
            <a:ext cx="410839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D7AAA0"/>
                </a:solidFill>
                <a:latin typeface="Calibri"/>
              </a:rPr>
              <a:t>ЗА ГРАНИЦАМИ — ОСОЗНАННО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59168" y="2514600"/>
            <a:ext cx="4108399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400"/>
              </a:spcAft>
            </a:pPr>
            <a:r>
              <a:rPr sz="1000">
                <a:solidFill>
                  <a:srgbClr val="E5C78F"/>
                </a:solidFill>
                <a:latin typeface="Calibri"/>
              </a:rPr>
              <a:t>◆  </a:t>
            </a:r>
            <a:r>
              <a:rPr sz="1300">
                <a:solidFill>
                  <a:srgbClr val="C4AA8E"/>
                </a:solidFill>
                <a:latin typeface="Calibri"/>
              </a:rPr>
              <a:t>Реальные счета, карты, СБП, госсистемы</a:t>
            </a:r>
          </a:p>
          <a:p>
            <a:pPr>
              <a:lnSpc>
                <a:spcPct val="125000"/>
              </a:lnSpc>
              <a:spcAft>
                <a:spcPts val="1400"/>
              </a:spcAft>
            </a:pPr>
            <a:r>
              <a:rPr sz="1000">
                <a:solidFill>
                  <a:srgbClr val="E5C78F"/>
                </a:solidFill>
                <a:latin typeface="Calibri"/>
              </a:rPr>
              <a:t>◆  </a:t>
            </a:r>
            <a:r>
              <a:rPr sz="1300">
                <a:solidFill>
                  <a:srgbClr val="C4AA8E"/>
                </a:solidFill>
                <a:latin typeface="Calibri"/>
              </a:rPr>
              <a:t>Настоящие деньги, подписки, реклама</a:t>
            </a:r>
          </a:p>
          <a:p>
            <a:pPr>
              <a:lnSpc>
                <a:spcPct val="125000"/>
              </a:lnSpc>
              <a:spcAft>
                <a:spcPts val="1400"/>
              </a:spcAft>
            </a:pPr>
            <a:r>
              <a:rPr sz="1000">
                <a:solidFill>
                  <a:srgbClr val="E5C78F"/>
                </a:solidFill>
                <a:latin typeface="Calibri"/>
              </a:rPr>
              <a:t>◆  </a:t>
            </a:r>
            <a:r>
              <a:rPr sz="1300">
                <a:solidFill>
                  <a:srgbClr val="C4AA8E"/>
                </a:solidFill>
                <a:latin typeface="Calibri"/>
              </a:rPr>
              <a:t>Чаты между детьми, публичные рейтинги</a:t>
            </a:r>
          </a:p>
          <a:p>
            <a:pPr>
              <a:lnSpc>
                <a:spcPct val="125000"/>
              </a:lnSpc>
              <a:spcAft>
                <a:spcPts val="1400"/>
              </a:spcAft>
            </a:pPr>
            <a:r>
              <a:rPr sz="1000">
                <a:solidFill>
                  <a:srgbClr val="E5C78F"/>
                </a:solidFill>
                <a:latin typeface="Calibri"/>
              </a:rPr>
              <a:t>◆  </a:t>
            </a:r>
            <a:r>
              <a:rPr sz="1300">
                <a:solidFill>
                  <a:srgbClr val="C4AA8E"/>
                </a:solidFill>
                <a:latin typeface="Calibri"/>
              </a:rPr>
              <a:t>Обязательный ИИ — вне минимума ТЗ</a:t>
            </a:r>
          </a:p>
          <a:p>
            <a:pPr>
              <a:lnSpc>
                <a:spcPct val="125000"/>
              </a:lnSpc>
              <a:spcAft>
                <a:spcPts val="1400"/>
              </a:spcAft>
            </a:pPr>
            <a:r>
              <a:rPr sz="1000">
                <a:solidFill>
                  <a:srgbClr val="E5C78F"/>
                </a:solidFill>
                <a:latin typeface="Calibri"/>
              </a:rPr>
              <a:t>◆  </a:t>
            </a:r>
            <a:r>
              <a:rPr sz="1300">
                <a:solidFill>
                  <a:srgbClr val="C4AA8E"/>
                </a:solidFill>
                <a:latin typeface="Calibri"/>
              </a:rPr>
              <a:t>Родительский веб-кабинет и удалённый контроль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59168" y="4892040"/>
            <a:ext cx="410839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D7AAA0"/>
                </a:solidFill>
                <a:latin typeface="Calibri"/>
              </a:rPr>
              <a:t>Игровая валюта не имеет реальной стоимости, не продаётся и не обменивается на деньги или призы.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29107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716052"/>
                </a:solidFill>
                <a:latin typeface="Calibri"/>
              </a:rPr>
              <a:t>Матрица соответствия по каждому пункту — docs/compliance-tz.md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2975" y="629107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1">
                <a:solidFill>
                  <a:srgbClr val="463A28"/>
                </a:solidFill>
                <a:latin typeface="Cambria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1E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9115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E5C78F"/>
                </a:solidFill>
                <a:latin typeface="Cambria"/>
              </a:rPr>
              <a:t>Ключевые UX/UI-решения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16152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C4AA8E"/>
                </a:solidFill>
                <a:latin typeface="Calibri"/>
              </a:rPr>
              <a:t>ТЗ §3.6 — возрастная уместность и доступность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2606040" cy="1600200"/>
          </a:xfrm>
          <a:prstGeom prst="roundRect">
            <a:avLst>
              <a:gd name="adj" fmla="val 6000"/>
            </a:avLst>
          </a:prstGeom>
          <a:solidFill>
            <a:srgbClr val="2A2523"/>
          </a:solidFill>
          <a:ln w="12700">
            <a:solidFill>
              <a:srgbClr val="46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2057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E5C78F"/>
                </a:solidFill>
                <a:latin typeface="Cambria"/>
              </a:rPr>
              <a:t>Цели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2057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C4AA8E"/>
                </a:solidFill>
                <a:latin typeface="Calibri"/>
              </a:rPr>
              <a:t>стоимость, накоплено,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C4AA8E"/>
                </a:solidFill>
                <a:latin typeface="Calibri"/>
              </a:rPr>
              <a:t>осталось, срок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75304" y="1828800"/>
            <a:ext cx="2606040" cy="1600200"/>
          </a:xfrm>
          <a:prstGeom prst="roundRect">
            <a:avLst>
              <a:gd name="adj" fmla="val 6000"/>
            </a:avLst>
          </a:prstGeom>
          <a:solidFill>
            <a:srgbClr val="2A2523"/>
          </a:solidFill>
          <a:ln w="12700">
            <a:solidFill>
              <a:srgbClr val="46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9624" y="2057400"/>
            <a:ext cx="2057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E5C78F"/>
                </a:solidFill>
                <a:latin typeface="Cambria"/>
              </a:rPr>
              <a:t>Советник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9624" y="2468880"/>
            <a:ext cx="2057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C4AA8E"/>
                </a:solidFill>
                <a:latin typeface="Calibri"/>
              </a:rPr>
              <a:t>что произошло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C4AA8E"/>
                </a:solidFill>
                <a:latin typeface="Calibri"/>
              </a:rPr>
              <a:t>и что делать дальше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10528" y="1828800"/>
            <a:ext cx="2606040" cy="1600200"/>
          </a:xfrm>
          <a:prstGeom prst="roundRect">
            <a:avLst>
              <a:gd name="adj" fmla="val 6000"/>
            </a:avLst>
          </a:prstGeom>
          <a:solidFill>
            <a:srgbClr val="2A2523"/>
          </a:solidFill>
          <a:ln w="12700">
            <a:solidFill>
              <a:srgbClr val="46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84848" y="2057400"/>
            <a:ext cx="2057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E5C78F"/>
                </a:solidFill>
                <a:latin typeface="Cambria"/>
              </a:rPr>
              <a:t>Магазин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84848" y="2468880"/>
            <a:ext cx="2057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C4AA8E"/>
                </a:solidFill>
                <a:latin typeface="Calibri"/>
              </a:rPr>
              <a:t>цена, категория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C4AA8E"/>
                </a:solidFill>
                <a:latin typeface="Calibri"/>
              </a:rPr>
              <a:t>и влияние до покупки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45752" y="1828800"/>
            <a:ext cx="2606040" cy="1600200"/>
          </a:xfrm>
          <a:prstGeom prst="roundRect">
            <a:avLst>
              <a:gd name="adj" fmla="val 6000"/>
            </a:avLst>
          </a:prstGeom>
          <a:solidFill>
            <a:srgbClr val="2A2523"/>
          </a:solidFill>
          <a:ln w="12700">
            <a:solidFill>
              <a:srgbClr val="46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20072" y="2057400"/>
            <a:ext cx="2057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E5C78F"/>
                </a:solidFill>
                <a:latin typeface="Cambria"/>
              </a:rPr>
              <a:t>Мяу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20072" y="2468880"/>
            <a:ext cx="2057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C4AA8E"/>
                </a:solidFill>
                <a:latin typeface="Calibri"/>
              </a:rPr>
              <a:t>состояние котика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C4AA8E"/>
                </a:solidFill>
                <a:latin typeface="Calibri"/>
              </a:rPr>
              <a:t>и причина изменения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749039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E5C78F"/>
                </a:solidFill>
                <a:latin typeface="Calibri"/>
              </a:rPr>
              <a:t>ТЁМНО-ЗОЛОТОЙ СЕТТИНГ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114800"/>
            <a:ext cx="54864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F0DDC3"/>
                </a:solidFill>
                <a:latin typeface="Calibri"/>
              </a:rPr>
              <a:t>Котик на подиуме в тёплом свете: сцена, а не интерфейс банка. Золото читается как «ценность» без единого упоминания реальных денег — и отличает приложение от привычной детской пестроты.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486400"/>
            <a:ext cx="5486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D7AAA0"/>
                </a:solidFill>
                <a:latin typeface="Calibri"/>
              </a:rPr>
              <a:t>Демонстрационный режим: обязательный сценарий проходится подряд, без ожидания календарных сроков.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749039"/>
            <a:ext cx="505937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E5C78F"/>
                </a:solidFill>
                <a:latin typeface="Calibri"/>
              </a:rPr>
              <a:t>ДОСТУПНОСТЬ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114800"/>
            <a:ext cx="5059375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900">
                <a:solidFill>
                  <a:srgbClr val="E5C78F"/>
                </a:solidFill>
                <a:latin typeface="Calibri"/>
              </a:rPr>
              <a:t>◆  </a:t>
            </a:r>
            <a:r>
              <a:rPr sz="1200">
                <a:solidFill>
                  <a:srgbClr val="F0DDC3"/>
                </a:solidFill>
                <a:latin typeface="Calibri"/>
              </a:rPr>
              <a:t>Цель нажатия не меньше 48 × 48 dp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900">
                <a:solidFill>
                  <a:srgbClr val="E5C78F"/>
                </a:solidFill>
                <a:latin typeface="Calibri"/>
              </a:rPr>
              <a:t>◆  </a:t>
            </a:r>
            <a:r>
              <a:rPr sz="1200">
                <a:solidFill>
                  <a:srgbClr val="F0DDC3"/>
                </a:solidFill>
                <a:latin typeface="Calibri"/>
              </a:rPr>
              <a:t>Основной текст от 16 sp, выдерживает системное увеличение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900">
                <a:solidFill>
                  <a:srgbClr val="E5C78F"/>
                </a:solidFill>
                <a:latin typeface="Calibri"/>
              </a:rPr>
              <a:t>◆  </a:t>
            </a:r>
            <a:r>
              <a:rPr sz="1200">
                <a:solidFill>
                  <a:srgbClr val="F0DDC3"/>
                </a:solidFill>
                <a:latin typeface="Calibri"/>
              </a:rPr>
              <a:t>Цвет никогда не единственный носитель смысла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900">
                <a:solidFill>
                  <a:srgbClr val="E5C78F"/>
                </a:solidFill>
                <a:latin typeface="Calibri"/>
              </a:rPr>
              <a:t>◆  </a:t>
            </a:r>
            <a:r>
              <a:rPr sz="1200">
                <a:solidFill>
                  <a:srgbClr val="F0DDC3"/>
                </a:solidFill>
                <a:latin typeface="Calibri"/>
              </a:rPr>
              <a:t>Звук и анимации отключаются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900">
                <a:solidFill>
                  <a:srgbClr val="E5C78F"/>
                </a:solidFill>
                <a:latin typeface="Calibri"/>
              </a:rPr>
              <a:t>◆  </a:t>
            </a:r>
            <a:r>
              <a:rPr sz="1200">
                <a:solidFill>
                  <a:srgbClr val="F0DDC3"/>
                </a:solidFill>
                <a:latin typeface="Calibri"/>
              </a:rPr>
              <a:t>Удаление данных требует подтверждения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29107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716052"/>
                </a:solidFill>
                <a:latin typeface="Calibri"/>
              </a:rPr>
              <a:t>Палитра приложения использована и в этой презентации, и в оформлении репозитория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02975" y="629107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1">
                <a:solidFill>
                  <a:srgbClr val="463A28"/>
                </a:solidFill>
                <a:latin typeface="Cambria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1E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9115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E5C78F"/>
                </a:solidFill>
                <a:latin typeface="Cambria"/>
              </a:rPr>
              <a:t>Архитектура, стек и хранение данных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16152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C4AA8E"/>
                </a:solidFill>
                <a:latin typeface="Calibri"/>
              </a:rPr>
              <a:t>ТЗ §3.2, §3.4 — компоненты и разделение ответственности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10911535" cy="1170432"/>
          </a:xfrm>
          <a:prstGeom prst="roundRect">
            <a:avLst>
              <a:gd name="adj" fmla="val 6000"/>
            </a:avLst>
          </a:prstGeom>
          <a:solidFill>
            <a:srgbClr val="2A2523"/>
          </a:solidFill>
          <a:ln w="12700">
            <a:solidFill>
              <a:srgbClr val="46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77824" y="2057400"/>
            <a:ext cx="621792" cy="621792"/>
          </a:xfrm>
          <a:prstGeom prst="ellipse">
            <a:avLst/>
          </a:prstGeom>
          <a:solidFill>
            <a:srgbClr val="E5C78F"/>
          </a:solidFill>
          <a:ln w="15875">
            <a:solidFill>
              <a:srgbClr val="46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>
                <a:solidFill>
                  <a:srgbClr val="211E1C"/>
                </a:solidFill>
                <a:latin typeface="Cambr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984248"/>
            <a:ext cx="3840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E5C78F"/>
                </a:solidFill>
                <a:latin typeface="Cambria"/>
              </a:rPr>
              <a:t>Приложение — Flutter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2386584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716052"/>
                </a:solidFill>
                <a:latin typeface="Calibri"/>
              </a:rPr>
              <a:t>Android 8.0+ · портретная ориентация от 360 dp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2057400"/>
            <a:ext cx="515081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F0DDC3"/>
                </a:solidFill>
                <a:latin typeface="Calibri"/>
              </a:rPr>
              <a:t>Вся игровая экономика, состояние и рост котика. Работает офлайн. Локальное хранилище на устройстве.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154680"/>
            <a:ext cx="10911535" cy="1170432"/>
          </a:xfrm>
          <a:prstGeom prst="roundRect">
            <a:avLst>
              <a:gd name="adj" fmla="val 6000"/>
            </a:avLst>
          </a:prstGeom>
          <a:solidFill>
            <a:srgbClr val="2A2523"/>
          </a:solidFill>
          <a:ln w="12700">
            <a:solidFill>
              <a:srgbClr val="46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3429000"/>
            <a:ext cx="621792" cy="621792"/>
          </a:xfrm>
          <a:prstGeom prst="ellipse">
            <a:avLst/>
          </a:prstGeom>
          <a:solidFill>
            <a:srgbClr val="E5C78F"/>
          </a:solidFill>
          <a:ln w="15875">
            <a:solidFill>
              <a:srgbClr val="46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>
                <a:solidFill>
                  <a:srgbClr val="211E1C"/>
                </a:solidFill>
                <a:latin typeface="Cambr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3355848"/>
            <a:ext cx="3840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D7AAA0"/>
                </a:solidFill>
                <a:latin typeface="Cambria"/>
              </a:rPr>
              <a:t>Учебный контент — YAML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3758184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716052"/>
                </a:solidFill>
                <a:latin typeface="Calibri"/>
              </a:rPr>
              <a:t>каталог · задания · цели · правила котика · карта компетенций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3429000"/>
            <a:ext cx="515081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F0DDC3"/>
                </a:solidFill>
                <a:latin typeface="Calibri"/>
              </a:rPr>
              <a:t>Отделён от кода интерфейса. Новое задание добавляется правкой файла, без пересборки логики.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26280"/>
            <a:ext cx="10911535" cy="1170432"/>
          </a:xfrm>
          <a:prstGeom prst="roundRect">
            <a:avLst>
              <a:gd name="adj" fmla="val 6000"/>
            </a:avLst>
          </a:prstGeom>
          <a:solidFill>
            <a:srgbClr val="2A2523"/>
          </a:solidFill>
          <a:ln w="12700">
            <a:solidFill>
              <a:srgbClr val="46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77824" y="4800600"/>
            <a:ext cx="621792" cy="621792"/>
          </a:xfrm>
          <a:prstGeom prst="ellipse">
            <a:avLst/>
          </a:prstGeom>
          <a:solidFill>
            <a:srgbClr val="E5C78F"/>
          </a:solidFill>
          <a:ln w="15875">
            <a:solidFill>
              <a:srgbClr val="46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>
                <a:solidFill>
                  <a:srgbClr val="211E1C"/>
                </a:solidFill>
                <a:latin typeface="Cambri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4727448"/>
            <a:ext cx="3840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C4AA8E"/>
                </a:solidFill>
                <a:latin typeface="Cambria"/>
              </a:rPr>
              <a:t>Дата-платформа — Python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5129784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716052"/>
                </a:solidFill>
                <a:latin typeface="Calibri"/>
              </a:rPr>
              <a:t>bronze → silver → gold (dbt) · FastAPI + OpenAPI · Docker Compose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4800600"/>
            <a:ext cx="515081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F0DDC3"/>
                </a:solidFill>
                <a:latin typeface="Calibri"/>
              </a:rPr>
              <a:t>Синтетическая телеметрия, витрины, обучение и экспорт моделей на устройство. Не на критическом пути игры.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852160"/>
            <a:ext cx="1091153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D7AAA0"/>
                </a:solidFill>
                <a:latin typeface="Calibri"/>
              </a:rPr>
              <a:t>Приложение полностью работоспособно без платформы: она добавляет аналитику и подсказки, но не является условием работы игрового цикла.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29107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716052"/>
                </a:solidFill>
                <a:latin typeface="Calibri"/>
              </a:rPr>
              <a:t>Подробная схема и обоснования — docs/architecture.md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29107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1">
                <a:solidFill>
                  <a:srgbClr val="463A28"/>
                </a:solidFill>
                <a:latin typeface="Cambria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1E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9115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E5C78F"/>
                </a:solidFill>
                <a:latin typeface="Cambria"/>
              </a:rPr>
              <a:t>Обновление учебного контента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16152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C4AA8E"/>
                </a:solidFill>
                <a:latin typeface="Calibri"/>
              </a:rPr>
              <a:t>ТЗ §2.5.14 — новое задание без переработки логики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394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F0DDC3"/>
                </a:solidFill>
                <a:latin typeface="Calibri"/>
              </a:rPr>
              <a:t>Контент — это данные, а не код. Методист правит YAML, приложение и витрины подхватывают изменение без участия разработчика.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3218688"/>
            <a:ext cx="438912" cy="438912"/>
          </a:xfrm>
          <a:prstGeom prst="ellipse">
            <a:avLst/>
          </a:prstGeom>
          <a:solidFill>
            <a:srgbClr val="E5C78F"/>
          </a:solidFill>
          <a:ln w="15875">
            <a:solidFill>
              <a:srgbClr val="46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211E1C"/>
                </a:solidFill>
                <a:latin typeface="Cambr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3200400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E5C78F"/>
                </a:solidFill>
                <a:latin typeface="Calibri"/>
              </a:rPr>
              <a:t>Правка YAML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1872" y="3465576"/>
            <a:ext cx="48463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C4AA8E"/>
                </a:solidFill>
                <a:latin typeface="Calibri"/>
              </a:rPr>
              <a:t>методист добавляет задание в content/quests.yaml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3968496"/>
            <a:ext cx="438912" cy="438912"/>
          </a:xfrm>
          <a:prstGeom prst="ellipse">
            <a:avLst/>
          </a:prstGeom>
          <a:solidFill>
            <a:srgbClr val="E5C78F"/>
          </a:solidFill>
          <a:ln w="15875">
            <a:solidFill>
              <a:srgbClr val="46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211E1C"/>
                </a:solidFill>
                <a:latin typeface="Cambria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1872" y="3950208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E5C78F"/>
                </a:solidFill>
                <a:latin typeface="Calibri"/>
              </a:rPr>
              <a:t>Контрактные тесты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61872" y="4215384"/>
            <a:ext cx="48463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C4AA8E"/>
                </a:solidFill>
                <a:latin typeface="Calibri"/>
              </a:rPr>
              <a:t>минимумы ТЗ §2.6, возрастная арифметика, тон формулировок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4718304"/>
            <a:ext cx="438912" cy="438912"/>
          </a:xfrm>
          <a:prstGeom prst="ellipse">
            <a:avLst/>
          </a:prstGeom>
          <a:solidFill>
            <a:srgbClr val="E5C78F"/>
          </a:solidFill>
          <a:ln w="15875">
            <a:solidFill>
              <a:srgbClr val="46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211E1C"/>
                </a:solidFill>
                <a:latin typeface="Cambri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1872" y="4700016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E5C78F"/>
                </a:solidFill>
                <a:latin typeface="Calibri"/>
              </a:rPr>
              <a:t>Сборка витрин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4965192"/>
            <a:ext cx="48463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C4AA8E"/>
                </a:solidFill>
                <a:latin typeface="Calibri"/>
              </a:rPr>
              <a:t>seed'ы dbt генерируются из того же файла — рассинхрон невозможен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5468112"/>
            <a:ext cx="438912" cy="438912"/>
          </a:xfrm>
          <a:prstGeom prst="ellipse">
            <a:avLst/>
          </a:prstGeom>
          <a:solidFill>
            <a:srgbClr val="E5C78F"/>
          </a:solidFill>
          <a:ln w="15875">
            <a:solidFill>
              <a:srgbClr val="46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211E1C"/>
                </a:solidFill>
                <a:latin typeface="Cambria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1872" y="5449824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E5C78F"/>
                </a:solidFill>
                <a:latin typeface="Calibri"/>
              </a:rPr>
              <a:t>Манифест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61872" y="5715000"/>
            <a:ext cx="48463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C4AA8E"/>
                </a:solidFill>
                <a:latin typeface="Calibri"/>
              </a:rPr>
              <a:t>приложение сверяет версию контента и забирает разницу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40" y="1783080"/>
            <a:ext cx="5059375" cy="4160520"/>
          </a:xfrm>
          <a:prstGeom prst="roundRect">
            <a:avLst>
              <a:gd name="adj" fmla="val 6000"/>
            </a:avLst>
          </a:prstGeom>
          <a:solidFill>
            <a:srgbClr val="2A2523"/>
          </a:solidFill>
          <a:ln w="12700">
            <a:solidFill>
              <a:srgbClr val="46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2057400"/>
            <a:ext cx="4236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E5C78F"/>
                </a:solidFill>
                <a:latin typeface="Calibri"/>
              </a:rPr>
              <a:t>ЧТО ПРОВЕРЯЕТСЯ АВТОМАТИЧЕСКИ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2514600"/>
            <a:ext cx="4236415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000">
                <a:solidFill>
                  <a:srgbClr val="E5C78F"/>
                </a:solidFill>
                <a:latin typeface="Calibri"/>
              </a:rPr>
              <a:t>◆  </a:t>
            </a:r>
            <a:r>
              <a:rPr sz="1300">
                <a:solidFill>
                  <a:srgbClr val="F0DDC3"/>
                </a:solidFill>
                <a:latin typeface="Calibri"/>
              </a:rPr>
              <a:t>Минимумы ТЗ §2.6 — по фактическим данным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000">
                <a:solidFill>
                  <a:srgbClr val="E5C78F"/>
                </a:solidFill>
                <a:latin typeface="Calibri"/>
              </a:rPr>
              <a:t>◆  </a:t>
            </a:r>
            <a:r>
              <a:rPr sz="1300">
                <a:solidFill>
                  <a:srgbClr val="F0DDC3"/>
                </a:solidFill>
                <a:latin typeface="Calibri"/>
              </a:rPr>
              <a:t>Арифметика: ответ сверяется вычислением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000">
                <a:solidFill>
                  <a:srgbClr val="E5C78F"/>
                </a:solidFill>
                <a:latin typeface="Calibri"/>
              </a:rPr>
              <a:t>◆  </a:t>
            </a:r>
            <a:r>
              <a:rPr sz="1300">
                <a:solidFill>
                  <a:srgbClr val="F0DDC3"/>
                </a:solidFill>
                <a:latin typeface="Calibri"/>
              </a:rPr>
              <a:t>Объяснение есть у любого варианта ответа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000">
                <a:solidFill>
                  <a:srgbClr val="E5C78F"/>
                </a:solidFill>
                <a:latin typeface="Calibri"/>
              </a:rPr>
              <a:t>◆  </a:t>
            </a:r>
            <a:r>
              <a:rPr sz="1300">
                <a:solidFill>
                  <a:srgbClr val="F0DDC3"/>
                </a:solidFill>
                <a:latin typeface="Calibri"/>
              </a:rPr>
              <a:t>Неудачный выбор тоже приносит награду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000">
                <a:solidFill>
                  <a:srgbClr val="E5C78F"/>
                </a:solidFill>
                <a:latin typeface="Calibri"/>
              </a:rPr>
              <a:t>◆  </a:t>
            </a:r>
            <a:r>
              <a:rPr sz="1300">
                <a:solidFill>
                  <a:srgbClr val="F0DDC3"/>
                </a:solidFill>
                <a:latin typeface="Calibri"/>
              </a:rPr>
              <a:t>Нет стыдящих и пугающих формулировок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000">
                <a:solidFill>
                  <a:srgbClr val="E5C78F"/>
                </a:solidFill>
                <a:latin typeface="Calibri"/>
              </a:rPr>
              <a:t>◆  </a:t>
            </a:r>
            <a:r>
              <a:rPr sz="1300">
                <a:solidFill>
                  <a:srgbClr val="F0DDC3"/>
                </a:solidFill>
                <a:latin typeface="Calibri"/>
              </a:rPr>
              <a:t>Стадии котика не понижаются никогда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5120640"/>
            <a:ext cx="42364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D7AAA0"/>
                </a:solidFill>
                <a:latin typeface="Calibri"/>
              </a:rPr>
              <a:t>Ошибка в контенте останавливает сборку, а не доходит до ребёнка.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29107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716052"/>
                </a:solidFill>
                <a:latin typeface="Calibri"/>
              </a:rPr>
              <a:t>content/*.yaml · tests/unit/test_content.py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02975" y="629107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1">
                <a:solidFill>
                  <a:srgbClr val="463A28"/>
                </a:solidFill>
                <a:latin typeface="Cambria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1E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9115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E5C78F"/>
                </a:solidFill>
                <a:latin typeface="Cambria"/>
              </a:rPr>
              <a:t>Машинное обучение: зачем и почему это безопасно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16152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C4AA8E"/>
                </a:solidFill>
                <a:latin typeface="Calibri"/>
              </a:rPr>
              <a:t>ТЗ §2.7.5 не требует ML · §3.2 требует обосновать, если он применяется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10911535" cy="1051560"/>
          </a:xfrm>
          <a:prstGeom prst="roundRect">
            <a:avLst>
              <a:gd name="adj" fmla="val 6000"/>
            </a:avLst>
          </a:prstGeom>
          <a:solidFill>
            <a:srgbClr val="463A28"/>
          </a:solidFill>
          <a:ln w="12700">
            <a:solidFill>
              <a:srgbClr val="46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993392"/>
            <a:ext cx="1008857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E5C78F"/>
                </a:solidFill>
                <a:latin typeface="Cambria"/>
              </a:rPr>
              <a:t>Ни одна модель не может изменить баланс, заблокировать покупку, повлиять на настроение котика или на срок достижения цели.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63240"/>
            <a:ext cx="3429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E5C78F"/>
                </a:solidFill>
                <a:latin typeface="Cambria"/>
              </a:rPr>
              <a:t>Что модель делает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456432"/>
            <a:ext cx="34290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900">
                <a:solidFill>
                  <a:srgbClr val="E5C78F"/>
                </a:solidFill>
                <a:latin typeface="Calibri"/>
              </a:rPr>
              <a:t>◆  </a:t>
            </a:r>
            <a:r>
              <a:rPr sz="1200">
                <a:solidFill>
                  <a:srgbClr val="F0DDC3"/>
                </a:solidFill>
                <a:latin typeface="Calibri"/>
              </a:rPr>
              <a:t>Выбирает формулировку подсказки в Советнике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900">
                <a:solidFill>
                  <a:srgbClr val="E5C78F"/>
                </a:solidFill>
                <a:latin typeface="Calibri"/>
              </a:rPr>
              <a:t>◆  </a:t>
            </a:r>
            <a:r>
              <a:rPr sz="1200">
                <a:solidFill>
                  <a:srgbClr val="F0DDC3"/>
                </a:solidFill>
                <a:latin typeface="Calibri"/>
              </a:rPr>
              <a:t>Подсказывает порядок заданий — как тай-брейкер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900">
                <a:solidFill>
                  <a:srgbClr val="E5C78F"/>
                </a:solidFill>
                <a:latin typeface="Calibri"/>
              </a:rPr>
              <a:t>◆  </a:t>
            </a:r>
            <a:r>
              <a:rPr sz="1200">
                <a:solidFill>
                  <a:srgbClr val="F0DDC3"/>
                </a:solidFill>
                <a:latin typeface="Calibri"/>
              </a:rPr>
              <a:t>Находит разбалансировку экономики для методиста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3063240"/>
            <a:ext cx="3429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D7AAA0"/>
                </a:solidFill>
                <a:latin typeface="Cambria"/>
              </a:rPr>
              <a:t>Чего не делает никогда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3456432"/>
            <a:ext cx="34290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900">
                <a:solidFill>
                  <a:srgbClr val="E5C78F"/>
                </a:solidFill>
                <a:latin typeface="Calibri"/>
              </a:rPr>
              <a:t>◆  </a:t>
            </a:r>
            <a:r>
              <a:rPr sz="1200">
                <a:solidFill>
                  <a:srgbClr val="F0DDC3"/>
                </a:solidFill>
                <a:latin typeface="Calibri"/>
              </a:rPr>
              <a:t>Не трогает баланс и покупки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900">
                <a:solidFill>
                  <a:srgbClr val="E5C78F"/>
                </a:solidFill>
                <a:latin typeface="Calibri"/>
              </a:rPr>
              <a:t>◆  </a:t>
            </a:r>
            <a:r>
              <a:rPr sz="1200">
                <a:solidFill>
                  <a:srgbClr val="F0DDC3"/>
                </a:solidFill>
                <a:latin typeface="Calibri"/>
              </a:rPr>
              <a:t>Не влияет на состояние и стадию котика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900">
                <a:solidFill>
                  <a:srgbClr val="E5C78F"/>
                </a:solidFill>
                <a:latin typeface="Calibri"/>
              </a:rPr>
              <a:t>◆  </a:t>
            </a:r>
            <a:r>
              <a:rPr sz="1200">
                <a:solidFill>
                  <a:srgbClr val="F0DDC3"/>
                </a:solidFill>
                <a:latin typeface="Calibri"/>
              </a:rPr>
              <a:t>Не считает срок до цели — это формула ТЗ §2.5.7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3063240"/>
            <a:ext cx="3429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C4AA8E"/>
                </a:solidFill>
                <a:latin typeface="Cambria"/>
              </a:rPr>
              <a:t>Как это проверено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3456432"/>
            <a:ext cx="34290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900">
                <a:solidFill>
                  <a:srgbClr val="E5C78F"/>
                </a:solidFill>
                <a:latin typeface="Calibri"/>
              </a:rPr>
              <a:t>◆  </a:t>
            </a:r>
            <a:r>
              <a:rPr sz="1200">
                <a:solidFill>
                  <a:srgbClr val="F0DDC3"/>
                </a:solidFill>
                <a:latin typeface="Calibri"/>
              </a:rPr>
              <a:t>Состязательные тесты: правила устаивают против вредных оценок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900">
                <a:solidFill>
                  <a:srgbClr val="E5C78F"/>
                </a:solidFill>
                <a:latin typeface="Calibri"/>
              </a:rPr>
              <a:t>◆  </a:t>
            </a:r>
            <a:r>
              <a:rPr sz="1200">
                <a:solidFill>
                  <a:srgbClr val="F0DDC3"/>
                </a:solidFill>
                <a:latin typeface="Calibri"/>
              </a:rPr>
              <a:t>Гейты качества: слабая модель не публикуется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900">
                <a:solidFill>
                  <a:srgbClr val="E5C78F"/>
                </a:solidFill>
                <a:latin typeface="Calibri"/>
              </a:rPr>
              <a:t>◆  </a:t>
            </a:r>
            <a:r>
              <a:rPr sz="1200">
                <a:solidFill>
                  <a:srgbClr val="F0DDC3"/>
                </a:solidFill>
                <a:latin typeface="Calibri"/>
              </a:rPr>
              <a:t>Паритет экспорта: на устройстве проверенная модель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5138928"/>
            <a:ext cx="10911535" cy="914400"/>
          </a:xfrm>
          <a:prstGeom prst="roundRect">
            <a:avLst>
              <a:gd name="adj" fmla="val 6000"/>
            </a:avLst>
          </a:prstGeom>
          <a:solidFill>
            <a:srgbClr val="2A2523"/>
          </a:solidFill>
          <a:ln w="12700">
            <a:solidFill>
              <a:srgbClr val="46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5321808"/>
            <a:ext cx="10088575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0">
                <a:solidFill>
                  <a:srgbClr val="F0DDC3"/>
                </a:solidFill>
                <a:latin typeface="Calibri"/>
              </a:rPr>
              <a:t>Если модель недоступна — показывается подсказка по правилам, и ребёнок не замечает разницы. Приложение полностью работает без единой модели и при выключенной телеметрии.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29107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716052"/>
                </a:solidFill>
                <a:latin typeface="Calibri"/>
              </a:rPr>
              <a:t>Карточки моделей с метриками и границами — docs/ml-cards/ · обоснование — docs/adr/0001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02975" y="629107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1">
                <a:solidFill>
                  <a:srgbClr val="463A28"/>
                </a:solidFill>
                <a:latin typeface="Cambria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1E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9115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E5C78F"/>
                </a:solidFill>
                <a:latin typeface="Cambria"/>
              </a:rPr>
              <a:t>Результаты проверки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16152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C4AA8E"/>
                </a:solidFill>
                <a:latin typeface="Calibri"/>
              </a:rPr>
              <a:t>ТЗ §3.4, §4.8 — что проверено автоматически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2514600" cy="1463040"/>
          </a:xfrm>
          <a:prstGeom prst="roundRect">
            <a:avLst>
              <a:gd name="adj" fmla="val 6000"/>
            </a:avLst>
          </a:prstGeom>
          <a:solidFill>
            <a:srgbClr val="2A2523"/>
          </a:solidFill>
          <a:ln w="12700">
            <a:solidFill>
              <a:srgbClr val="46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148839"/>
            <a:ext cx="251460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800" b="1">
                <a:solidFill>
                  <a:srgbClr val="E5C78F"/>
                </a:solidFill>
                <a:latin typeface="Cambria"/>
              </a:rPr>
              <a:t>178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52343"/>
            <a:ext cx="2514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C4AA8E"/>
                </a:solidFill>
                <a:latin typeface="Calibri"/>
              </a:rPr>
              <a:t>автотестов</a:t>
            </a:r>
          </a:p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C4AA8E"/>
                </a:solidFill>
                <a:latin typeface="Calibri"/>
              </a:rPr>
              <a:t>проходят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874519"/>
            <a:ext cx="2514600" cy="1463040"/>
          </a:xfrm>
          <a:prstGeom prst="roundRect">
            <a:avLst>
              <a:gd name="adj" fmla="val 6000"/>
            </a:avLst>
          </a:prstGeom>
          <a:solidFill>
            <a:srgbClr val="2A2523"/>
          </a:solidFill>
          <a:ln w="12700">
            <a:solidFill>
              <a:srgbClr val="46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2148839"/>
            <a:ext cx="251460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800" b="1">
                <a:solidFill>
                  <a:srgbClr val="E5C78F"/>
                </a:solidFill>
                <a:latin typeface="Cambria"/>
              </a:rPr>
              <a:t>80 %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2752343"/>
            <a:ext cx="2514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C4AA8E"/>
                </a:solidFill>
                <a:latin typeface="Calibri"/>
              </a:rPr>
              <a:t>покрытие</a:t>
            </a:r>
          </a:p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C4AA8E"/>
                </a:solidFill>
                <a:latin typeface="Calibri"/>
              </a:rPr>
              <a:t>кода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874519"/>
            <a:ext cx="2514600" cy="1463040"/>
          </a:xfrm>
          <a:prstGeom prst="roundRect">
            <a:avLst>
              <a:gd name="adj" fmla="val 6000"/>
            </a:avLst>
          </a:prstGeom>
          <a:solidFill>
            <a:srgbClr val="2A2523"/>
          </a:solidFill>
          <a:ln w="12700">
            <a:solidFill>
              <a:srgbClr val="46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2148839"/>
            <a:ext cx="251460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800" b="1">
                <a:solidFill>
                  <a:srgbClr val="E5C78F"/>
                </a:solidFill>
                <a:latin typeface="Cambria"/>
              </a:rPr>
              <a:t>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752343"/>
            <a:ext cx="2514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C4AA8E"/>
                </a:solidFill>
                <a:latin typeface="Calibri"/>
              </a:rPr>
              <a:t>тестов dbt</a:t>
            </a:r>
          </a:p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C4AA8E"/>
                </a:solidFill>
                <a:latin typeface="Calibri"/>
              </a:rPr>
              <a:t>на витринах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06840" y="1874519"/>
            <a:ext cx="2514600" cy="1463040"/>
          </a:xfrm>
          <a:prstGeom prst="roundRect">
            <a:avLst>
              <a:gd name="adj" fmla="val 6000"/>
            </a:avLst>
          </a:prstGeom>
          <a:solidFill>
            <a:srgbClr val="2A2523"/>
          </a:solidFill>
          <a:ln w="12700">
            <a:solidFill>
              <a:srgbClr val="46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06840" y="2148839"/>
            <a:ext cx="251460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800" b="1">
                <a:solidFill>
                  <a:srgbClr val="E5C78F"/>
                </a:solidFill>
                <a:latin typeface="Cambria"/>
              </a:rPr>
              <a:t>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06840" y="2752343"/>
            <a:ext cx="2514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C4AA8E"/>
                </a:solidFill>
                <a:latin typeface="Calibri"/>
              </a:rPr>
              <a:t>проверок</a:t>
            </a:r>
          </a:p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C4AA8E"/>
                </a:solidFill>
                <a:latin typeface="Calibri"/>
              </a:rPr>
              <a:t>качества данных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657600"/>
            <a:ext cx="5394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E5C78F"/>
                </a:solidFill>
                <a:latin typeface="Calibri"/>
              </a:rPr>
              <a:t>ЧТО ИМЕННО ПРОВЕРЯЕТСЯ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069080"/>
            <a:ext cx="539496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000">
                <a:solidFill>
                  <a:srgbClr val="E5C78F"/>
                </a:solidFill>
                <a:latin typeface="Calibri"/>
              </a:rPr>
              <a:t>◆  </a:t>
            </a:r>
            <a:r>
              <a:rPr sz="1300">
                <a:solidFill>
                  <a:srgbClr val="F0DDC3"/>
                </a:solidFill>
                <a:latin typeface="Calibri"/>
              </a:rPr>
              <a:t>Инварианты экономики: монеты не появляются и не исчезают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000">
                <a:solidFill>
                  <a:srgbClr val="E5C78F"/>
                </a:solidFill>
                <a:latin typeface="Calibri"/>
              </a:rPr>
              <a:t>◆  </a:t>
            </a:r>
            <a:r>
              <a:rPr sz="1300">
                <a:solidFill>
                  <a:srgbClr val="F0DDC3"/>
                </a:solidFill>
                <a:latin typeface="Calibri"/>
              </a:rPr>
              <a:t>Отрицательный баланс непредставим на уровне типа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000">
                <a:solidFill>
                  <a:srgbClr val="E5C78F"/>
                </a:solidFill>
                <a:latin typeface="Calibri"/>
              </a:rPr>
              <a:t>◆  </a:t>
            </a:r>
            <a:r>
              <a:rPr sz="1300">
                <a:solidFill>
                  <a:srgbClr val="F0DDC3"/>
                </a:solidFill>
                <a:latin typeface="Calibri"/>
              </a:rPr>
              <a:t>План не может превысить доступную сумму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000">
                <a:solidFill>
                  <a:srgbClr val="E5C78F"/>
                </a:solidFill>
                <a:latin typeface="Calibri"/>
              </a:rPr>
              <a:t>◆  </a:t>
            </a:r>
            <a:r>
              <a:rPr sz="1300">
                <a:solidFill>
                  <a:srgbClr val="F0DDC3"/>
                </a:solidFill>
                <a:latin typeface="Calibri"/>
              </a:rPr>
              <a:t>Стадия котика не понижается ни при каких данных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000">
                <a:solidFill>
                  <a:srgbClr val="E5C78F"/>
                </a:solidFill>
                <a:latin typeface="Calibri"/>
              </a:rPr>
              <a:t>◆  </a:t>
            </a:r>
            <a:r>
              <a:rPr sz="1300">
                <a:solidFill>
                  <a:srgbClr val="F0DDC3"/>
                </a:solidFill>
                <a:latin typeface="Calibri"/>
              </a:rPr>
              <a:t>Минимумы ТЗ §2.6 подтверждаются по фактическим данным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92240" y="3566160"/>
            <a:ext cx="5059375" cy="2377440"/>
          </a:xfrm>
          <a:prstGeom prst="roundRect">
            <a:avLst>
              <a:gd name="adj" fmla="val 6000"/>
            </a:avLst>
          </a:prstGeom>
          <a:solidFill>
            <a:srgbClr val="2A2523"/>
          </a:solidFill>
          <a:ln w="12700">
            <a:solidFill>
              <a:srgbClr val="46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76288" y="3794760"/>
            <a:ext cx="429127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D7AAA0"/>
                </a:solidFill>
                <a:latin typeface="Calibri"/>
              </a:rPr>
              <a:t>ПРОВЕРКИ КАЧЕСТВА УМЕЮТ ПАДАТЬ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76288" y="4206240"/>
            <a:ext cx="4291279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F0DDC3"/>
                </a:solidFill>
                <a:latin typeface="Calibri"/>
              </a:rPr>
              <a:t>Каждый инвариант дополнительно проверяется на намеренно испорченных данных: в таблицу вносится нарушение, и тест требует, чтобы проверка его поймала.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F0DDC3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F0DDC3"/>
                </a:solidFill>
                <a:latin typeface="Calibri"/>
              </a:rPr>
              <a:t>Проверка, которая не умеет падать, не доказывает ничего.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29107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716052"/>
                </a:solidFill>
                <a:latin typeface="Calibri"/>
              </a:rPr>
              <a:t>Проверка на физическом Android-устройстве — в отчёте команды по сборке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02975" y="629107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1">
                <a:solidFill>
                  <a:srgbClr val="463A28"/>
                </a:solidFill>
                <a:latin typeface="Cambria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1E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9115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E5C78F"/>
                </a:solidFill>
                <a:latin typeface="Cambria"/>
              </a:rPr>
              <a:t>Ограничения, план и материалы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16152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C4AA8E"/>
                </a:solidFill>
                <a:latin typeface="Calibri"/>
              </a:rPr>
              <a:t>ТЗ §4.8, §4.9 — честные границы и ссылки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D7AAA0"/>
                </a:solidFill>
                <a:latin typeface="Calibri"/>
              </a:rPr>
              <a:t>ИЗВЕСТНЫЕ ОГРАНИЧЕНИЯ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40280"/>
            <a:ext cx="54864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100"/>
              </a:spcAft>
            </a:pPr>
            <a:r>
              <a:rPr sz="1000">
                <a:solidFill>
                  <a:srgbClr val="E5C78F"/>
                </a:solidFill>
                <a:latin typeface="Calibri"/>
              </a:rPr>
              <a:t>◆  </a:t>
            </a:r>
            <a:r>
              <a:rPr sz="1300">
                <a:solidFill>
                  <a:srgbClr val="F0DDC3"/>
                </a:solidFill>
                <a:latin typeface="Calibri"/>
              </a:rPr>
              <a:t>Данные платформы синтетические: наблюдать детей без согласия законных представителей нельзя</a:t>
            </a:r>
          </a:p>
          <a:p>
            <a:pPr>
              <a:lnSpc>
                <a:spcPct val="125000"/>
              </a:lnSpc>
              <a:spcAft>
                <a:spcPts val="1100"/>
              </a:spcAft>
            </a:pPr>
            <a:r>
              <a:rPr sz="1000">
                <a:solidFill>
                  <a:srgbClr val="E5C78F"/>
                </a:solidFill>
                <a:latin typeface="Calibri"/>
              </a:rPr>
              <a:t>◆  </a:t>
            </a:r>
            <a:r>
              <a:rPr sz="1300">
                <a:solidFill>
                  <a:srgbClr val="F0DDC3"/>
                </a:solidFill>
                <a:latin typeface="Calibri"/>
              </a:rPr>
              <a:t>Метрики моделей характеризуют корректность конвейера, а не педагогическую эффективность</a:t>
            </a:r>
          </a:p>
          <a:p>
            <a:pPr>
              <a:lnSpc>
                <a:spcPct val="125000"/>
              </a:lnSpc>
              <a:spcAft>
                <a:spcPts val="1100"/>
              </a:spcAft>
            </a:pPr>
            <a:r>
              <a:rPr sz="1000">
                <a:solidFill>
                  <a:srgbClr val="E5C78F"/>
                </a:solidFill>
                <a:latin typeface="Calibri"/>
              </a:rPr>
              <a:t>◆  </a:t>
            </a:r>
            <a:r>
              <a:rPr sz="1300">
                <a:solidFill>
                  <a:srgbClr val="F0DDC3"/>
                </a:solidFill>
                <a:latin typeface="Calibri"/>
              </a:rPr>
              <a:t>Детектор аномалий экономики обучен на малом числе периодов</a:t>
            </a:r>
          </a:p>
          <a:p>
            <a:pPr>
              <a:lnSpc>
                <a:spcPct val="125000"/>
              </a:lnSpc>
              <a:spcAft>
                <a:spcPts val="1100"/>
              </a:spcAft>
            </a:pPr>
            <a:r>
              <a:rPr sz="1000">
                <a:solidFill>
                  <a:srgbClr val="E5C78F"/>
                </a:solidFill>
                <a:latin typeface="Calibri"/>
              </a:rPr>
              <a:t>◆  </a:t>
            </a:r>
            <a:r>
              <a:rPr sz="1300">
                <a:solidFill>
                  <a:srgbClr val="F0DDC3"/>
                </a:solidFill>
                <a:latin typeface="Calibri"/>
              </a:rPr>
              <a:t>Полный контейнерный стек описан, но проверялся не на всех средах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434840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E5C78F"/>
                </a:solidFill>
                <a:latin typeface="Calibri"/>
              </a:rPr>
              <a:t>ПЛАН ДОРАБОТКИ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846320"/>
            <a:ext cx="5486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000">
                <a:solidFill>
                  <a:srgbClr val="E5C78F"/>
                </a:solidFill>
                <a:latin typeface="Calibri"/>
              </a:rPr>
              <a:t>◆  </a:t>
            </a:r>
            <a:r>
              <a:rPr sz="1300">
                <a:solidFill>
                  <a:srgbClr val="F0DDC3"/>
                </a:solidFill>
                <a:latin typeface="Calibri"/>
              </a:rPr>
              <a:t>Проверка на физических устройствах и подписанная релизная сборка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000">
                <a:solidFill>
                  <a:srgbClr val="E5C78F"/>
                </a:solidFill>
                <a:latin typeface="Calibri"/>
              </a:rPr>
              <a:t>◆  </a:t>
            </a:r>
            <a:r>
              <a:rPr sz="1300">
                <a:solidFill>
                  <a:srgbClr val="F0DDC3"/>
                </a:solidFill>
                <a:latin typeface="Calibri"/>
              </a:rPr>
              <a:t>Интеграционные тесты потоковой части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000">
                <a:solidFill>
                  <a:srgbClr val="E5C78F"/>
                </a:solidFill>
                <a:latin typeface="Calibri"/>
              </a:rPr>
              <a:t>◆  </a:t>
            </a:r>
            <a:r>
              <a:rPr sz="1300">
                <a:solidFill>
                  <a:srgbClr val="F0DDC3"/>
                </a:solidFill>
                <a:latin typeface="Calibri"/>
              </a:rPr>
              <a:t>Исследование с согласием представителей — до любых заявлений об эффекте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1783080"/>
            <a:ext cx="4876495" cy="4160520"/>
          </a:xfrm>
          <a:prstGeom prst="roundRect">
            <a:avLst>
              <a:gd name="adj" fmla="val 6000"/>
            </a:avLst>
          </a:prstGeom>
          <a:solidFill>
            <a:srgbClr val="2A2523"/>
          </a:solidFill>
          <a:ln w="12700">
            <a:solidFill>
              <a:srgbClr val="46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86600" y="2057400"/>
            <a:ext cx="405353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E5C78F"/>
                </a:solidFill>
                <a:latin typeface="Calibri"/>
              </a:rPr>
              <a:t>МАТЕРИАЛЫ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2560320"/>
            <a:ext cx="405353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C4AA8E"/>
                </a:solidFill>
                <a:latin typeface="Calibri"/>
              </a:rPr>
              <a:t>Репозиторий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600" y="2779776"/>
            <a:ext cx="4053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0DDC3"/>
                </a:solidFill>
                <a:latin typeface="Calibri"/>
              </a:rPr>
              <a:t>github.com/zxcenigma/hakaton_mobile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3127248"/>
            <a:ext cx="405353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C4AA8E"/>
                </a:solidFill>
                <a:latin typeface="Calibri"/>
              </a:rPr>
              <a:t>Приложение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86600" y="3346704"/>
            <a:ext cx="4053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0DDC3"/>
                </a:solidFill>
                <a:latin typeface="Calibri"/>
              </a:rPr>
              <a:t>ветка frontend · mobile_app/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6600" y="3694176"/>
            <a:ext cx="405353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C4AA8E"/>
                </a:solidFill>
                <a:latin typeface="Calibri"/>
              </a:rPr>
              <a:t>Дата-платформа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600" y="3913632"/>
            <a:ext cx="4053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0DDC3"/>
                </a:solidFill>
                <a:latin typeface="Calibri"/>
              </a:rPr>
              <a:t>ветка ml-platform · monetka-data-platform/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4261104"/>
            <a:ext cx="405353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C4AA8E"/>
                </a:solidFill>
                <a:latin typeface="Calibri"/>
              </a:rPr>
              <a:t>Документация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86600" y="4480560"/>
            <a:ext cx="4053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0DDC3"/>
                </a:solidFill>
                <a:latin typeface="Calibri"/>
              </a:rPr>
              <a:t>docs/ — архитектура, ADR, карточки моделей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4828032"/>
            <a:ext cx="405353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C4AA8E"/>
                </a:solidFill>
                <a:latin typeface="Calibri"/>
              </a:rPr>
              <a:t>Матрица ТЗ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5047488"/>
            <a:ext cx="4053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0DDC3"/>
                </a:solidFill>
                <a:latin typeface="Calibri"/>
              </a:rPr>
              <a:t>docs/compliance-tz.md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5394960"/>
            <a:ext cx="405353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C4AA8E"/>
                </a:solidFill>
                <a:latin typeface="Calibri"/>
              </a:rPr>
              <a:t>Запуск за 2 минуты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600" y="5614416"/>
            <a:ext cx="4053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0DDC3"/>
                </a:solidFill>
                <a:latin typeface="Calibri"/>
              </a:rPr>
              <a:t>monetka demo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29107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716052"/>
                </a:solidFill>
                <a:latin typeface="Calibri"/>
              </a:rPr>
              <a:t>Сборка APK, демонстрационный режим и сброс профиля — в инструкции репозитория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02975" y="629107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1">
                <a:solidFill>
                  <a:srgbClr val="463A28"/>
                </a:solidFill>
                <a:latin typeface="Cambria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