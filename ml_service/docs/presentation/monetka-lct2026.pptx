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r>
              <a:t>Центральные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5186" y="329801"/>
            <a:ext cx="5193299" cy="1082589"/>
          </a:xfrm>
        </p:spPr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r>
              <a:t>«Монетка» — Департамент финансов города Москвы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 sz="1000">
                <a:solidFill>
                  <a:schemeClr val="tx1"/>
                </a:solidFill>
              </a:rPr>
              <a:t>Каждое решение объясняется словами, а не баллами. Объяснение выбирает модель, но при её отказе работает правило — приложение полноценно и без сети, и без ML. Экономику игры модели не трогают. Персональные данные детей не собираются.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Червак Алексей Петрович, бэкенд и дата-инженерия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2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Собрались под кейс департамента. Цель — не сдать прототип, а довести продукт до аудитории и развивать детскую финансовую грамотность.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Москва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t>О ПРОЕКТЕ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 sz="1000">
                <a:solidFill>
                  <a:schemeClr val="tx1"/>
                </a:solidFill>
              </a:rPr>
              <a:t>Приложение для детей 7–11 лет: ребёнок получает доход, делит его между обязательным, желаемым и накоплениями, копит на цель. Котик отражает качество решений — последствие видно сразу. Взрослый видит прогресс. Работает офлайн.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Фуллстек-разработчик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+7 993 622-81-82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b="1" dirty="0">
                <a:solidFill>
                  <a:schemeClr val="accent5"/>
                </a:solidFill>
              </a:rPr>
              <a:t>Медведев Александр Дмитриевич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Бэкенд и дата-инженерия. Капитан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+7 993 351-01-92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300" b="1" dirty="0">
                <a:solidFill>
                  <a:schemeClr val="accent5"/>
                </a:solidFill>
              </a:rPr>
              <a:t>Червак Алексей Петрович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/>
            </a: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/>
            </a: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86467" y="1826554"/>
            <a:ext cx="1722566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520208" y="1809238"/>
            <a:ext cx="1722567" cy="1559717"/>
          </a:xfrm>
        </p:spPr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802422" y="1809238"/>
            <a:ext cx="1722566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t>КОМАНДА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/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t>КАК МЫ РАБОТАЛИ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 sz="1200">
                <a:solidFill>
                  <a:schemeClr val="tx1"/>
                </a:solidFill>
              </a:rPr>
              <a:t>Команда собралась под этот кейс. Взяли его, потому что детская финансовая грамотность — область, где интерфейс учит лучше объяснения.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 sz="1100">
                <a:solidFill>
                  <a:schemeClr val="tx1"/>
                </a:solidFill>
              </a:rPr>
              <a:t>Главная трудность была методической, а не технической: доказать, что ML здесь уместен. ТЗ его не требует, поэтому мы ограничили модели тем, что можно обосновать, и запретили им менять экономику игры.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 sz="1100">
                <a:solidFill>
                  <a:schemeClr val="tx1"/>
                </a:solidFill>
              </a:rPr>
              <a:t>Техническую часть проверяли запуском, а не тестами: тесты проходили, а в контейнере сервис падал.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 sz="1200">
                <a:solidFill>
                  <a:schemeClr val="tx1"/>
                </a:solidFill>
              </a:rPr>
              <a:t>Финансовую грамотность детям обычно объясняют текстом. Здесь последствие решения видно сразу: котик остался голодным, потому что обязательное не закрыто.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000" dirty="0">
                <a:solidFill>
                  <a:schemeClr val="tx1"/>
                </a:solidFill>
              </a:rPr>
              <a:t>Игровой цикл выполняется на устройстве: локальная база, сеть не требуется (ТЗ §3.1.5).</a:t>
            </a:r>
          </a:p>
          <a:p>
            <a:r>
              <a:rPr lang="ru-RU" sz="1000" dirty="0">
                <a:solidFill>
                  <a:schemeClr val="tx1"/>
                </a:solidFill>
              </a:rPr>
              <a:t>Машинное обучение ТЗ не требует — §2.7.5 выносит его за обязательный минимум. Применяем только там, где §3.2 допускает, и отвечаем на три его условия.</a:t>
            </a:r>
          </a:p>
          <a:p>
            <a:r>
              <a:rPr lang="ru-RU" sz="1000" dirty="0">
                <a:solidFill>
                  <a:schemeClr val="tx1"/>
                </a:solidFill>
              </a:rPr>
              <a:t>Задача. Три модели: какое объяснение показать, в каком порядке предложить задания, какие периоды передать методисту. Игровую экономику не меняет ни одна.</a:t>
            </a:r>
          </a:p>
          <a:p>
            <a:r>
              <a:rPr lang="ru-RU" sz="1000" dirty="0">
                <a:solidFill>
                  <a:schemeClr val="tx1"/>
                </a:solidFill>
              </a:rPr>
              <a:t>Данные. Только синтетическая телеметрия. Персональные данные детей не собираются: контракты отвергают такие поля, API возвращает 422.</a:t>
            </a:r>
          </a:p>
          <a:p>
            <a:r>
              <a:rPr lang="ru-RU" sz="1000" dirty="0">
                <a:solidFill>
                  <a:schemeClr val="tx1"/>
                </a:solidFill>
              </a:rPr>
              <a:t>Контроль. Модель не выкладывается, если не прошла порог, и должна быть не хуже действующей. Выборка делится по игрокам. После конвертации в ONNX проверяется совпадение ответов.</a:t>
            </a:r>
          </a:p>
          <a:p>
            <a:r>
              <a:rPr lang="ru-RU" sz="1000" dirty="0">
                <a:solidFill>
                  <a:schemeClr val="tx1"/>
                </a:solidFill>
              </a:rPr>
              <a:t>Граница применимости выведена из измерений: точность падает с 0.83 на четвёртом периоде до 0.46 на десятом, поэтому после пятого модель воздерживается и отвечает правило.</a:t>
            </a:r>
          </a:p>
          <a:p>
            <a:r>
              <a:rPr lang="ru-RU" sz="1000" dirty="0">
                <a:solidFill>
                  <a:schemeClr val="tx1"/>
                </a:solidFill>
              </a:rPr>
              <a:t>Стек: Python, DuckDB, dbt, Iceberg, Trino, Redpanda, MLflow, FastAPI, ONNX Runtime, Docker.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000" dirty="0">
                <a:solidFill>
                  <a:schemeClr val="tx1"/>
                </a:solidFill>
              </a:rPr>
              <a:t>Внедрение начинается с пилота в школах и библиотеках. Приложение работает офлайн, поэтому не требует ни сети в классе, ни регистрации ребёнка.</a:t>
            </a:r>
            <a:br>
              <a:rPr lang="ru-RU" sz="1400" dirty="0">
                <a:solidFill>
                  <a:schemeClr val="tx1"/>
                </a:solidFill>
              </a:rPr>
            </a:br>
          </a:p>
          <a:p>
            <a:r>
              <a:rPr lang="ru-RU" sz="1000" dirty="0">
                <a:solidFill>
                  <a:schemeClr val="tx1"/>
                </a:solidFill>
              </a:rPr>
              <a:t>Каталог, задания и цели меняются без пересборки приложения: методист обновляет материал сам.</a:t>
            </a:r>
            <a:br>
              <a:rPr lang="ru-RU" sz="1400" dirty="0">
                <a:solidFill>
                  <a:schemeClr val="tx1"/>
                </a:solidFill>
              </a:rPr>
            </a:br>
          </a:p>
          <a:p>
            <a:r>
              <a:rPr lang="ru-RU" sz="1000" dirty="0">
                <a:solidFill>
                  <a:schemeClr val="tx1"/>
                </a:solidFill>
              </a:rPr>
              <a:t>Раздел взрослого имеет самостоятельную ценность: родитель получает не оценку ребёнка, а темы для разговора. На этом строится подписка, базовая часть остаётся бесплатной.</a:t>
            </a:r>
            <a:br>
              <a:rPr lang="ru-RU" sz="1400" dirty="0">
                <a:solidFill>
                  <a:schemeClr val="tx1"/>
                </a:solidFill>
              </a:rPr>
            </a:br>
          </a:p>
          <a:p>
            <a:r>
              <a:rPr lang="ru-RU" sz="1000" dirty="0">
                <a:solidFill>
                  <a:schemeClr val="tx1"/>
                </a:solidFill>
              </a:rPr>
              <a:t>Три довода. Первый: каждый показатель измерен и воспроизводится одной командой — 341 автотест, 82 % покрытия, 58 проверок dbt. Второй: стек разворачивается целиком и проверен в работе, API отвечает за 0.5 мс при бюджете 50. Третий: мы показываем не только то, что модель работает, но и границу, за которой она перестаёт быть полезной.</a:t>
            </a:r>
            <a:br>
              <a:rPr lang="ru-RU" sz="1400" dirty="0">
                <a:solidFill>
                  <a:schemeClr val="tx1"/>
                </a:solidFill>
              </a:rPr>
            </a:br>
          </a:p>
          <a:p>
            <a:r>
              <a:rPr lang="ru-RU" sz="1000" dirty="0">
                <a:solidFill>
                  <a:schemeClr val="tx1"/>
                </a:solidFill>
              </a:rPr>
              <a:t>Платформа переносится на другие продукты департамента: меняется источник событий, конвейер сохраняется.</a:t>
            </a:r>
            <a:br>
              <a:rPr lang="ru-RU" sz="1400" dirty="0">
                <a:solidFill>
                  <a:schemeClr val="tx1"/>
                </a:solidFill>
              </a:rPr>
            </a:b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