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olors1.xml" ContentType="application/vnd.ms-office.chartcolorstyle+xml"/>
  <Override PartName="/ppt/charts/style1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5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9"/>
  </p:notesMasterIdLst>
  <p:handoutMasterIdLst>
    <p:handoutMasterId r:id="rId40"/>
  </p:handoutMasterIdLst>
  <p:sldIdLst>
    <p:sldId id="365" r:id="rId8"/>
    <p:sldId id="366" r:id="rId9"/>
    <p:sldId id="362" r:id="rId10"/>
    <p:sldId id="364" r:id="rId11"/>
    <p:sldId id="375" r:id="rId12"/>
    <p:sldId id="268" r:id="rId25"/>
    <p:sldId id="267" r:id="rId26"/>
    <p:sldId id="263" r:id="rId22"/>
    <p:sldId id="370" r:id="rId16"/>
    <p:sldId id="262" r:id="rId21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83" autoAdjust="0"/>
    <p:restoredTop sz="95839"/>
  </p:normalViewPr>
  <p:slideViewPr>
    <p:cSldViewPr snapToGrid="0" showGuides="1">
      <p:cViewPr varScale="1">
        <p:scale>
          <a:sx n="112" d="100"/>
          <a:sy n="112" d="100"/>
        </p:scale>
        <p:origin x="200" y="360"/>
      </p:cViewPr>
      <p:guideLst>
        <p:guide pos="597"/>
        <p:guide pos="3591"/>
        <p:guide pos="5496"/>
        <p:guide pos="4112"/>
        <p:guide pos="393"/>
        <p:guide orient="horz" pos="216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6" Type="http://schemas.openxmlformats.org/officeDocument/2006/relationships/slide" Target="slides/slide15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40" Type="http://schemas.openxmlformats.org/officeDocument/2006/relationships/handoutMaster" Target="handoutMasters/handout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microsoft.com/office/2011/relationships/chartStyle" Target="style1.xml"/><Relationship Id="rId2" Type="http://schemas.microsoft.com/office/2011/relationships/chartColorStyle" Target="colors1.xml"/><Relationship Id="rId3" Type="http://schemas.openxmlformats.org/officeDocument/2006/relationships/package" Target="../embeddings/_____Microsoft_Excel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ru-RU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5.1688300241682354E-2"/>
          <c:y val="0.12693525390367644"/>
          <c:w val="0.92608602339057544"/>
          <c:h val="0.66747142271661164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Точность выбора объяснения</c:v>
                </c:pt>
              </c:strCache>
            </c:strRef>
          </c:tx>
          <c:spPr>
            <a:solidFill>
              <a:schemeClr val="accent1"/>
            </a:solidFill>
            <a:ln w="63500">
              <a:noFill/>
            </a:ln>
            <a:effectLst/>
          </c:spPr>
          <c:invertIfNegative val="0"/>
          <c:cat>
            <c:strRef>
              <c:f>Sheet1!$A$2:$A$4</c:f>
              <c:strCache>
                <c:ptCount val="3"/>
                <c:pt idx="0">
                  <c:v>Модель</c:v>
                </c:pt>
                <c:pt idx="1">
                  <c:v>Базовый выбор</c:v>
                </c:pt>
                <c:pt idx="2">
                  <c:v>Порог гейта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0.868</c:v>
                </c:pt>
                <c:pt idx="1">
                  <c:v>0.311</c:v>
                </c:pt>
                <c:pt idx="2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00"/>
        <c:overlap val="-20"/>
        <c:axId val="1688540351"/>
        <c:axId val="1173587135"/>
      </c:barChart>
      <c:catAx>
        <c:axId val="1688540351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173587135"/>
        <c:crosses val="autoZero"/>
        <c:auto val="1"/>
        <c:lblAlgn val="ctr"/>
        <c:lblOffset val="100"/>
        <c:noMultiLvlLbl val="0"/>
      </c:catAx>
      <c:valAx>
        <c:axId val="1173587135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bg1">
                  <a:alpha val="5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pPr>
            <a:endParaRPr lang="ru-RU"/>
          </a:p>
        </c:txPr>
        <c:crossAx val="1688540351"/>
        <c:crosses val="autoZero"/>
        <c:crossBetween val="between"/>
        <c:majorUnit val="1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89"/>
          <c:w val="0.94740055839426573"/>
          <c:h val="6.179925714265312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bg1"/>
              </a:solidFill>
              <a:latin typeface="+mn-l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>
          <a:solidFill>
            <a:schemeClr val="bg1"/>
          </a:solidFill>
        </a:defRPr>
      </a:pPr>
      <a:endParaRPr lang="ru-RU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t>14.09.2026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t>14.09.2026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t>14.09.2026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t>14.09.2026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t>14.09.2026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t>14.09.2026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t>14.09.2026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4.png"/></Relationships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r>
              <a:t>‹ЗАПОЛНИТЬ› название команды</a:t>
            </a:r>
          </a:p>
        </p:txBody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F88AFFF3-DF8C-2AA0-1E6F-AEE5FC354BA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05186" y="329801"/>
            <a:ext cx="5193299" cy="1082589"/>
          </a:xfrm>
        </p:spPr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/>
          <a:lstStyle/>
          <a:p>
            <a:r>
              <a:t>«Монетка» — Департамент финансов города Москвы</a:t>
            </a: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806660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C7F1B208-7478-7BDA-1FDE-22C1555254C4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335267"/>
            <a:ext cx="6456363" cy="2971784"/>
          </a:xfrm>
        </p:spPr>
      </p:sp>
      <p:sp>
        <p:nvSpPr>
          <p:cNvPr id="6" name="Текст 8">
            <a:extLst>
              <a:ext uri="{FF2B5EF4-FFF2-40B4-BE49-F238E27FC236}">
                <a16:creationId xmlns:a16="http://schemas.microsoft.com/office/drawing/2014/main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Каждое решение ребёнка объясняется словами, а не баллами: приложение всегда называет причину. Объяснение выбирает модель, но если она недоступна или отвечает дольше 50 мс — показывается правило, поэтому приложение полноценно работает без сети и без ML. Экономику игры модели не трогают вообще: цены и доход одинаковы для всех. Персональные данные детей не собираются — это проверяет код, а не обещает документация.</a:t>
            </a: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‹ЗАПОЛНИТЬ› ФИО, специальность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‹ЗАПОЛНИТЬ› человек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‹ЗАПОЛНИТЬ› как образовалась команда,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место работы/учёбы участников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регион: ‹ЗАПОЛНИТЬ›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t>О ПРОЕКТЕ</a:t>
            </a: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 pitchFamily="2" charset="2"/>
              <a:buNone/>
            </a:pPr>
            <a:r>
              <a:rPr lang="ru-RU" dirty="0">
                <a:solidFill>
                  <a:schemeClr val="tx1"/>
                </a:solidFill>
              </a:rPr>
              <a:t>Мобильное приложение для детей 7–11 лет: ребёнок получает доход, распределяет его между обязательным, желаемым и накоплениями, покупает в каталоге и копит на цель. Состояние виртуального котика отражает качество решений и делает последствия наглядными. Взрослый видит прогресс в отдельном разделе. Основной цикл работает офлайн, без сервера.</a:t>
            </a: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5397789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  <p:sp>
        <p:nvSpPr>
          <p:cNvPr id="59" name="Скругленный прямоугольник 58">
            <a:extLst>
              <a:ext uri="{FF2B5EF4-FFF2-40B4-BE49-F238E27FC236}">
                <a16:creationId xmlns:a16="http://schemas.microsoft.com/office/drawing/2014/main" id="{0F406257-4D6A-D88A-21D7-91882F262CF5}"/>
              </a:ext>
            </a:extLst>
          </p:cNvPr>
          <p:cNvSpPr/>
          <p:nvPr/>
        </p:nvSpPr>
        <p:spPr>
          <a:xfrm>
            <a:off x="4956712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0" name="Текст 8">
            <a:extLst>
              <a:ext uri="{FF2B5EF4-FFF2-40B4-BE49-F238E27FC236}">
                <a16:creationId xmlns:a16="http://schemas.microsoft.com/office/drawing/2014/main" id="{44C1868D-BA5E-04C0-2882-2494450EF9D6}"/>
              </a:ext>
            </a:extLst>
          </p:cNvPr>
          <p:cNvSpPr txBox="1">
            <a:spLocks/>
          </p:cNvSpPr>
          <p:nvPr/>
        </p:nvSpPr>
        <p:spPr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61" name="Текст 8">
            <a:extLst>
              <a:ext uri="{FF2B5EF4-FFF2-40B4-BE49-F238E27FC236}">
                <a16:creationId xmlns:a16="http://schemas.microsoft.com/office/drawing/2014/main" id="{1A52C52A-3120-DA42-507D-5AE477E99E60}"/>
              </a:ext>
            </a:extLst>
          </p:cNvPr>
          <p:cNvSpPr txBox="1">
            <a:spLocks/>
          </p:cNvSpPr>
          <p:nvPr/>
        </p:nvSpPr>
        <p:spPr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  <p:sp>
        <p:nvSpPr>
          <p:cNvPr id="62" name="Скругленный прямоугольник 61">
            <a:extLst>
              <a:ext uri="{FF2B5EF4-FFF2-40B4-BE49-F238E27FC236}">
                <a16:creationId xmlns:a16="http://schemas.microsoft.com/office/drawing/2014/main" id="{D1FBCE3B-1D71-DB46-9E48-C63F3ADD4968}"/>
              </a:ext>
            </a:extLst>
          </p:cNvPr>
          <p:cNvSpPr/>
          <p:nvPr/>
        </p:nvSpPr>
        <p:spPr>
          <a:xfrm>
            <a:off x="7262031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3" name="Текст 8">
            <a:extLst>
              <a:ext uri="{FF2B5EF4-FFF2-40B4-BE49-F238E27FC236}">
                <a16:creationId xmlns:a16="http://schemas.microsoft.com/office/drawing/2014/main" id="{CB4F394B-14E6-36F0-A4B2-EFA5843E9DB6}"/>
              </a:ext>
            </a:extLst>
          </p:cNvPr>
          <p:cNvSpPr txBox="1">
            <a:spLocks/>
          </p:cNvSpPr>
          <p:nvPr/>
        </p:nvSpPr>
        <p:spPr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64" name="Текст 8">
            <a:extLst>
              <a:ext uri="{FF2B5EF4-FFF2-40B4-BE49-F238E27FC236}">
                <a16:creationId xmlns:a16="http://schemas.microsoft.com/office/drawing/2014/main" id="{FF91B8FA-A68A-4E4D-B286-02AF30BFB771}"/>
              </a:ext>
            </a:extLst>
          </p:cNvPr>
          <p:cNvSpPr txBox="1">
            <a:spLocks/>
          </p:cNvSpPr>
          <p:nvPr/>
        </p:nvSpPr>
        <p:spPr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  <p:sp>
        <p:nvSpPr>
          <p:cNvPr id="65" name="Скругленный прямоугольник 64">
            <a:extLst>
              <a:ext uri="{FF2B5EF4-FFF2-40B4-BE49-F238E27FC236}">
                <a16:creationId xmlns:a16="http://schemas.microsoft.com/office/drawing/2014/main" id="{603D078F-23CD-0C3A-EF6E-9FA3818E22BC}"/>
              </a:ext>
            </a:extLst>
          </p:cNvPr>
          <p:cNvSpPr/>
          <p:nvPr/>
        </p:nvSpPr>
        <p:spPr>
          <a:xfrm>
            <a:off x="9567349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6" name="Текст 8">
            <a:extLst>
              <a:ext uri="{FF2B5EF4-FFF2-40B4-BE49-F238E27FC236}">
                <a16:creationId xmlns:a16="http://schemas.microsoft.com/office/drawing/2014/main" id="{575DCA32-E606-5EE7-1034-420DB36234D1}"/>
              </a:ext>
            </a:extLst>
          </p:cNvPr>
          <p:cNvSpPr txBox="1">
            <a:spLocks/>
          </p:cNvSpPr>
          <p:nvPr/>
        </p:nvSpPr>
        <p:spPr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роль в команде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ru-RU" sz="120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67" name="Текст 8">
            <a:extLst>
              <a:ext uri="{FF2B5EF4-FFF2-40B4-BE49-F238E27FC236}">
                <a16:creationId xmlns:a16="http://schemas.microsoft.com/office/drawing/2014/main" id="{9E3872F7-FC5C-5043-A741-AF2746714BA2}"/>
              </a:ext>
            </a:extLst>
          </p:cNvPr>
          <p:cNvSpPr txBox="1">
            <a:spLocks/>
          </p:cNvSpPr>
          <p:nvPr/>
        </p:nvSpPr>
        <p:spPr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3</a:t>
            </a:r>
          </a:p>
        </p:txBody>
      </p:sp>
      <p:sp>
        <p:nvSpPr>
          <p:cNvPr id="2" name="Рисунок 1">
            <a:extLst>
              <a:ext uri="{FF2B5EF4-FFF2-40B4-BE49-F238E27FC236}">
                <a16:creationId xmlns:a16="http://schemas.microsoft.com/office/drawing/2014/main" id="{4C94D4FF-301C-477D-8018-73C5CC99D4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81397" y="1816054"/>
            <a:ext cx="1722566" cy="1552901"/>
          </a:xfrm>
        </p:spPr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855F75D9-2AE8-476E-3BFF-E3DD59A60081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2886467" y="1826554"/>
            <a:ext cx="1722566" cy="1542401"/>
          </a:xfrm>
        </p:spPr>
      </p:sp>
      <p:sp>
        <p:nvSpPr>
          <p:cNvPr id="4" name="Рисунок 3">
            <a:extLst>
              <a:ext uri="{FF2B5EF4-FFF2-40B4-BE49-F238E27FC236}">
                <a16:creationId xmlns:a16="http://schemas.microsoft.com/office/drawing/2014/main" id="{767E99FD-70C0-A2B6-EA8E-C07EBA0B37E0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5191784" y="1809238"/>
            <a:ext cx="1722567" cy="1559717"/>
          </a:xfrm>
        </p:spPr>
      </p:sp>
      <p:sp>
        <p:nvSpPr>
          <p:cNvPr id="5" name="Рисунок 4">
            <a:extLst>
              <a:ext uri="{FF2B5EF4-FFF2-40B4-BE49-F238E27FC236}">
                <a16:creationId xmlns:a16="http://schemas.microsoft.com/office/drawing/2014/main" id="{D6C4749F-7C67-9CD8-7C7C-023BB23DC622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7520208" y="1809238"/>
            <a:ext cx="1722567" cy="1559717"/>
          </a:xfrm>
        </p:spPr>
      </p:sp>
      <p:sp>
        <p:nvSpPr>
          <p:cNvPr id="6" name="Рисунок 5">
            <a:extLst>
              <a:ext uri="{FF2B5EF4-FFF2-40B4-BE49-F238E27FC236}">
                <a16:creationId xmlns:a16="http://schemas.microsoft.com/office/drawing/2014/main" id="{B1F74E3B-D178-4815-DD0C-A02592AA14E6}"/>
              </a:ext>
            </a:extLst>
          </p:cNvPr>
          <p:cNvSpPr>
            <a:spLocks noGrp="1"/>
          </p:cNvSpPr>
          <p:nvPr>
            <p:ph type="pic" sz="quarter" idx="4294967295"/>
          </p:nvPr>
        </p:nvSpPr>
        <p:spPr>
          <a:xfrm>
            <a:off x="9802422" y="1809238"/>
            <a:ext cx="1722566" cy="1559717"/>
          </a:xfrm>
        </p:spPr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t>КОМАНДА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‹ЗАПОЛНИТЬ› роль в команде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‹ЗАПОЛНИТЬ› ник в мессенджере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‹ЗАПОЛНИТЬ› номер телефона</a:t>
            </a:r>
          </a:p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>
                <a:solidFill>
                  <a:schemeClr val="tx1"/>
                </a:solidFill>
              </a:rPr>
              <a:t>‹ЗАПОЛНИТЬ› место работы/учёбы</a:t>
            </a: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>
                <a:solidFill>
                  <a:schemeClr val="accent5"/>
                </a:solidFill>
              </a:rPr>
              <a:t>‹ЗАПОЛНИТЬ› Имя Фамилия</a:t>
            </a:r>
          </a:p>
        </p:txBody>
      </p:sp>
    </p:spTree>
    <p:extLst>
      <p:ext uri="{BB962C8B-B14F-4D97-AF65-F5344CB8AC3E}">
        <p14:creationId xmlns:p14="http://schemas.microsoft.com/office/powerpoint/2010/main" val="92214703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4</a:t>
            </a: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t>КАК МЫ РАБОТАЛИ</a:t>
            </a: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‹ЗАПОЛНИТЬ› как собрались, участвовали ли вместе раньше, интересные факты о команде.</a:t>
            </a: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Главная трудность была не технической, а методической: доказать, что ML здесь уместен. ТЗ его не требует, поэтому мы ограничили модели тем, что можно обосновать, и запретили им трогать игровую экономику отдельным решением в репозитории.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Техническая часть проверялась запуском, а не тестами: 285 тестов проходили, а в контейнере сервис падал — путь к данным вычислялся от исходников, которых в образе нет. Так нашлись четыре ошибки, которые не видны из чекаута.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>
                <a:solidFill>
                  <a:schemeClr val="tx1"/>
                </a:solidFill>
              </a:rPr>
              <a:t>Финансовую грамотность детям обычно объясняют текстом и тестами. Здесь можно показать последствия решения сразу и мягко: котик остался голодным, потому что обязательное не закрыто. Это та задача, где интерфейс учит лучше, чем объяснение.</a:t>
            </a: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355111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5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r>
              <a:rPr lang="ru-RU" sz="1100" dirty="0">
                <a:solidFill>
                  <a:schemeClr val="tx1"/>
                </a:solidFill>
              </a:rPr>
              <a:t>Приложение на Flutter, игровой цикл целиком на устройстве: локальная база, никакой зависимости от сети.</a:t>
            </a:r>
          </a:p>
          <a:p>
            <a:r>
              <a:rPr lang="ru-RU" sz="1100" dirty="0">
                <a:solidFill>
                  <a:schemeClr val="tx1"/>
                </a:solidFill>
              </a:rPr>
              <a:t/>
            </a:r>
          </a:p>
          <a:p>
            <a:r>
              <a:rPr lang="ru-RU" sz="1100" dirty="0">
                <a:solidFill>
                  <a:schemeClr val="tx1"/>
                </a:solidFill>
              </a:rPr>
              <a:t>Рядом — сервис данных и ML. События приложения проходят по слоям bronze → silver → gold (dbt), обучение идёт с гейтами качества: модель не выкладывается, если не прошла порог. Модели конвертируются в ONNX и проверяются на совпадение ответов с исходной версией, после чего работают прямо на устройстве.</a:t>
            </a:r>
          </a:p>
          <a:p>
            <a:r>
              <a:rPr lang="ru-RU" sz="1100" dirty="0">
                <a:solidFill>
                  <a:schemeClr val="tx1"/>
                </a:solidFill>
              </a:rPr>
              <a:t/>
            </a:r>
          </a:p>
          <a:p>
            <a:r>
              <a:rPr lang="ru-RU" sz="1100" dirty="0">
                <a:solidFill>
                  <a:schemeClr val="tx1"/>
                </a:solidFill>
              </a:rPr>
              <a:t>Стек: Python, DuckDB, dbt, Iceberg, Trino, Redpanda, MLflow, FastAPI, ONNX Runtime, Docker Compose.</a:t>
            </a:r>
          </a:p>
          <a:p>
            <a:r>
              <a:rPr lang="ru-RU" sz="1100" dirty="0">
                <a:solidFill>
                  <a:schemeClr val="tx1"/>
                </a:solidFill>
              </a:rPr>
              <a:t/>
            </a:r>
          </a:p>
          <a:p>
            <a:r>
              <a:rPr lang="ru-RU" sz="1100" dirty="0">
                <a:solidFill>
                  <a:schemeClr val="tx1"/>
                </a:solidFill>
              </a:rPr>
              <a:t>Персональные данные детей не собираются: контракты событий отвергают такие поля, и сборка падает.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r>
              <a:rPr lang="ru-RU" sz="1100" dirty="0">
                <a:solidFill>
                  <a:schemeClr val="tx1"/>
                </a:solidFill>
              </a:rPr>
              <a:t>Ближайшее — пилот в московских школах и библиотеках: приложение работает офлайн, поэтому не требует ни сети в классе, ни регистрации ребёнка.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1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100" dirty="0">
                <a:solidFill>
                  <a:schemeClr val="tx1"/>
                </a:solidFill>
              </a:rPr>
              <a:t>Содержание каталога, заданий и целей меняется без пересборки приложения, поэтому методист может обновлять материал сам — в том числе под тематические недели финансовой грамотности.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1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100" dirty="0">
                <a:solidFill>
                  <a:schemeClr val="tx1"/>
                </a:solidFill>
              </a:rPr>
              <a:t>Дальше — раздел для взрослого как отдельная ценность: родитель видит не оценку ребёнка, а разговорные поводы. На этом строится подписка, не ограничивая базовую бесплатную часть.</a:t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100" dirty="0">
                <a:solidFill>
                  <a:schemeClr val="tx1"/>
                </a:solidFill>
              </a:rPr>
              <a:t/>
            </a:r>
            <a:br>
              <a:rPr lang="ru-RU" sz="1400" dirty="0">
                <a:solidFill>
                  <a:schemeClr val="tx1"/>
                </a:solidFill>
              </a:rPr>
            </a:br>
          </a:p>
          <a:p>
            <a:r>
              <a:rPr lang="ru-RU" sz="1100" dirty="0">
                <a:solidFill>
                  <a:schemeClr val="tx1"/>
                </a:solidFill>
              </a:rPr>
              <a:t>Платформа данных переносится на другие просветительские продукты департамента: меняется источник событий, конвейер остаётся.</a:t>
            </a:r>
            <a:br>
              <a:rPr lang="ru-RU" sz="1400" dirty="0">
                <a:solidFill>
                  <a:schemeClr val="tx1"/>
                </a:solidFill>
              </a:rPr>
            </a:b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9877645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A0664B9-F30D-B51A-EC08-2389E212D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Заголовок 5">
            <a:extLst>
              <a:ext uri="{FF2B5EF4-FFF2-40B4-BE49-F238E27FC236}">
                <a16:creationId xmlns:a16="http://schemas.microsoft.com/office/drawing/2014/main" id="{80060758-64A6-F41E-1825-51ECED5214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3490" y="370426"/>
            <a:ext cx="5562510" cy="442374"/>
          </a:xfrm>
        </p:spPr>
        <p:txBody>
          <a:bodyPr/>
          <a:lstStyle/>
          <a:p>
            <a:r>
              <a:t>КАК ЗАКРЫТО ТЗ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52DB1C19-1756-5691-5F80-177F3A79D35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21133" y="1695025"/>
            <a:ext cx="4902200" cy="712587"/>
          </a:xfrm>
        </p:spPr>
        <p:txBody>
          <a:bodyPr/>
          <a:lstStyle/>
          <a:p>
            <a:r>
              <a:rPr sz="1300"/>
              <a:t>§3.1.5 — основной цикл работает офлайн, на устройстве, без сервера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40CC1337-8037-C8D6-4F63-245C2AF4E7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21133" y="2552035"/>
            <a:ext cx="4902200" cy="712587"/>
          </a:xfrm>
        </p:spPr>
        <p:txBody>
          <a:bodyPr/>
          <a:lstStyle/>
          <a:p>
            <a:r>
              <a:rPr sz="1300"/>
              <a:t>§3.2 — у каждой модели названы задача, данные и контроль корректности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35A27D79-7CA2-000D-5EC5-DB6887DB4E4B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21133" y="3409044"/>
            <a:ext cx="4902200" cy="712587"/>
          </a:xfrm>
        </p:spPr>
        <p:txBody>
          <a:bodyPr/>
          <a:lstStyle/>
          <a:p>
            <a:r>
              <a:rPr sz="1300"/>
              <a:t>§3.5 — персональные данные детей не собираются, это проверяет код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49701722-A703-6CF6-2014-059F040DC58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521133" y="4266053"/>
            <a:ext cx="4902200" cy="712587"/>
          </a:xfrm>
        </p:spPr>
        <p:txBody>
          <a:bodyPr/>
          <a:lstStyle/>
          <a:p>
            <a:r>
              <a:rPr sz="1300"/>
              <a:t>§2.5.7 — срок достижения цели считается объяснимой формулой</a:t>
            </a:r>
          </a:p>
        </p:txBody>
      </p:sp>
      <p:sp>
        <p:nvSpPr>
          <p:cNvPr id="12" name="Текст 11">
            <a:extLst>
              <a:ext uri="{FF2B5EF4-FFF2-40B4-BE49-F238E27FC236}">
                <a16:creationId xmlns:a16="http://schemas.microsoft.com/office/drawing/2014/main" id="{DE50EEA6-DEC5-5666-7D6D-27F8E37664B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521133" y="5123063"/>
            <a:ext cx="4902200" cy="712587"/>
          </a:xfrm>
        </p:spPr>
        <p:txBody>
          <a:bodyPr/>
          <a:lstStyle/>
          <a:p>
            <a:r>
              <a:rPr sz="1300"/>
              <a:t>§3.4 — в репозитории нет паролей, токенов и ключей, проверяет CI</a:t>
            </a: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id="{311126D8-C4EA-ED36-FA09-D0ED6388C8B6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41475" y="6356350"/>
            <a:ext cx="558800" cy="365125"/>
          </a:xfrm>
        </p:spPr>
        <p:txBody>
          <a:bodyPr/>
          <a:lstStyle/>
          <a:p>
            <a:r>
              <a:t>9</a:t>
            </a:r>
          </a:p>
        </p:txBody>
      </p:sp>
      <p:cxnSp>
        <p:nvCxnSpPr>
          <p:cNvPr id="2" name="Прямая соединительная линия 1">
            <a:extLst>
              <a:ext uri="{FF2B5EF4-FFF2-40B4-BE49-F238E27FC236}">
                <a16:creationId xmlns:a16="http://schemas.microsoft.com/office/drawing/2014/main" id="{C40756DD-053E-22C9-6492-BAE6C92C555E}"/>
              </a:ext>
            </a:extLst>
          </p:cNvPr>
          <p:cNvCxnSpPr>
            <a:cxnSpLocks/>
          </p:cNvCxnSpPr>
          <p:nvPr/>
        </p:nvCxnSpPr>
        <p:spPr>
          <a:xfrm>
            <a:off x="521133" y="1604660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00DEE536-8C7E-5FF9-89E1-82A9988D844D}"/>
              </a:ext>
            </a:extLst>
          </p:cNvPr>
          <p:cNvCxnSpPr>
            <a:cxnSpLocks/>
          </p:cNvCxnSpPr>
          <p:nvPr/>
        </p:nvCxnSpPr>
        <p:spPr>
          <a:xfrm>
            <a:off x="521133" y="246553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3" name="Прямая соединительная линия 12">
            <a:extLst>
              <a:ext uri="{FF2B5EF4-FFF2-40B4-BE49-F238E27FC236}">
                <a16:creationId xmlns:a16="http://schemas.microsoft.com/office/drawing/2014/main" id="{7E52340B-BDE2-4108-BF09-DF1807F1208F}"/>
              </a:ext>
            </a:extLst>
          </p:cNvPr>
          <p:cNvCxnSpPr>
            <a:cxnSpLocks/>
          </p:cNvCxnSpPr>
          <p:nvPr/>
        </p:nvCxnSpPr>
        <p:spPr>
          <a:xfrm>
            <a:off x="521133" y="334286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" name="Прямая соединительная линия 13">
            <a:extLst>
              <a:ext uri="{FF2B5EF4-FFF2-40B4-BE49-F238E27FC236}">
                <a16:creationId xmlns:a16="http://schemas.microsoft.com/office/drawing/2014/main" id="{9D24F87D-A790-746E-F6AE-485B863A9B3E}"/>
              </a:ext>
            </a:extLst>
          </p:cNvPr>
          <p:cNvCxnSpPr>
            <a:cxnSpLocks/>
          </p:cNvCxnSpPr>
          <p:nvPr/>
        </p:nvCxnSpPr>
        <p:spPr>
          <a:xfrm>
            <a:off x="521133" y="4183125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5" name="Прямая соединительная линия 14">
            <a:extLst>
              <a:ext uri="{FF2B5EF4-FFF2-40B4-BE49-F238E27FC236}">
                <a16:creationId xmlns:a16="http://schemas.microsoft.com/office/drawing/2014/main" id="{319081A8-2E23-9ED5-DAF3-7F8B5653DD5D}"/>
              </a:ext>
            </a:extLst>
          </p:cNvPr>
          <p:cNvCxnSpPr>
            <a:cxnSpLocks/>
          </p:cNvCxnSpPr>
          <p:nvPr/>
        </p:nvCxnSpPr>
        <p:spPr>
          <a:xfrm>
            <a:off x="521133" y="5048098"/>
            <a:ext cx="11335905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79793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E0C4469B-8AAE-7B13-015A-FD424E4F9A97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294820D9-0FE7-A2CD-6EC6-B191A0CD90DC}"/>
              </a:ext>
            </a:extLst>
          </p:cNvPr>
          <p:cNvSpPr/>
          <p:nvPr/>
        </p:nvSpPr>
        <p:spPr>
          <a:xfrm>
            <a:off x="5951744" y="1366423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7AE51F4F-C2FB-09FC-6139-35E790E33BDF}"/>
              </a:ext>
            </a:extLst>
          </p:cNvPr>
          <p:cNvSpPr/>
          <p:nvPr/>
        </p:nvSpPr>
        <p:spPr>
          <a:xfrm>
            <a:off x="5951744" y="2377094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34B52819-C376-FDAF-2B5B-09C492119CCF}"/>
              </a:ext>
            </a:extLst>
          </p:cNvPr>
          <p:cNvSpPr/>
          <p:nvPr/>
        </p:nvSpPr>
        <p:spPr>
          <a:xfrm>
            <a:off x="5951744" y="3387765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3" name="Скругленный прямоугольник 22">
            <a:extLst>
              <a:ext uri="{FF2B5EF4-FFF2-40B4-BE49-F238E27FC236}">
                <a16:creationId xmlns:a16="http://schemas.microsoft.com/office/drawing/2014/main" id="{6CDADF58-3FDE-0896-F558-2E50261FFD44}"/>
              </a:ext>
            </a:extLst>
          </p:cNvPr>
          <p:cNvSpPr/>
          <p:nvPr/>
        </p:nvSpPr>
        <p:spPr>
          <a:xfrm>
            <a:off x="5951744" y="4398436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id="{CD942BE0-7170-CE73-83AB-4505964EB89D}"/>
              </a:ext>
            </a:extLst>
          </p:cNvPr>
          <p:cNvSpPr/>
          <p:nvPr/>
        </p:nvSpPr>
        <p:spPr>
          <a:xfrm>
            <a:off x="5951744" y="5409107"/>
            <a:ext cx="5905293" cy="791668"/>
          </a:xfrm>
          <a:prstGeom prst="roundRect">
            <a:avLst>
              <a:gd name="adj" fmla="val 1633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Скругленный прямоугольник 14">
            <a:extLst>
              <a:ext uri="{FF2B5EF4-FFF2-40B4-BE49-F238E27FC236}">
                <a16:creationId xmlns:a16="http://schemas.microsoft.com/office/drawing/2014/main" id="{BF0860DA-9B9B-19E2-49DF-A8EDAA7C2B5F}"/>
              </a:ext>
            </a:extLst>
          </p:cNvPr>
          <p:cNvSpPr/>
          <p:nvPr/>
        </p:nvSpPr>
        <p:spPr>
          <a:xfrm>
            <a:off x="346076" y="1366423"/>
            <a:ext cx="5389562" cy="4834352"/>
          </a:xfrm>
          <a:prstGeom prst="roundRect">
            <a:avLst>
              <a:gd name="adj" fmla="val 2919"/>
            </a:avLst>
          </a:prstGeom>
          <a:solidFill>
            <a:schemeClr val="bg1"/>
          </a:solidFill>
          <a:ln w="9525" cap="flat" cmpd="sng" algn="ctr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C3F7DC2-0D9C-407C-98AC-5F3AD231C5C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23887" y="1732103"/>
            <a:ext cx="4734175" cy="4139307"/>
          </a:xfrm>
          <a:noFill/>
          <a:ln>
            <a:noFill/>
          </a:ln>
        </p:spPr>
        <p:txBody>
          <a:bodyPr>
            <a:normAutofit/>
          </a:bodyPr>
          <a:lstStyle/>
          <a:p>
            <a:r>
              <a:rPr sz="1300"/>
              <a:t>Пилот в школах и библиотеках: офлайн, без регистрации ребёнка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A2E8600-6DC7-42A4-BAB0-32ECA492CE0A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172730" y="1445505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/>
              <a:t>Раздел взрослого — разговорные поводы, а не оценка ребёнка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F517FCEF-DEC9-4794-B46E-21961558A7C8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172730" y="247287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/>
              <a:t>Обновление заданий и каталога без пересборки приложения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236B8339-2490-447D-B543-1CC15487D82C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72730" y="3485922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/>
              <a:t>Проверка эффекта на когортах: сравнение объяснений по группам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240FC05B-8F07-40FA-BE0D-2235F9DDDAB2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172730" y="4496593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/>
              <a:t>Перенос платформы данных на другие продукты департамента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D049C016-4655-4C58-B392-FD255E0A768B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172730" y="5516924"/>
            <a:ext cx="5460470" cy="600112"/>
          </a:xfrm>
          <a:noFill/>
          <a:ln>
            <a:noFill/>
          </a:ln>
        </p:spPr>
        <p:txBody>
          <a:bodyPr/>
          <a:lstStyle/>
          <a:p>
            <a:r>
              <a:rPr sz="1300"/>
              <a:t>§5.12 — перечень сторонних библиотек и лицензий поддерживается в репозитории</a:t>
            </a:r>
          </a:p>
        </p:txBody>
      </p:sp>
      <p:sp>
        <p:nvSpPr>
          <p:cNvPr id="10" name="Номер слайда 9">
            <a:extLst>
              <a:ext uri="{FF2B5EF4-FFF2-40B4-BE49-F238E27FC236}">
                <a16:creationId xmlns:a16="http://schemas.microsoft.com/office/drawing/2014/main" id="{366E9534-A66A-4DF6-B8DA-1E6D8E4438FA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633200" y="6356350"/>
            <a:ext cx="558800" cy="365125"/>
          </a:xfrm>
        </p:spPr>
        <p:txBody>
          <a:bodyPr/>
          <a:lstStyle/>
          <a:p>
            <a:r>
              <a:t>10</a:t>
            </a: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B16985B0-3ABD-CE1B-A2A5-B042F5A019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ЧТО ДАЛЬШЕ</a:t>
            </a:r>
          </a:p>
        </p:txBody>
      </p:sp>
    </p:spTree>
    <p:extLst>
      <p:ext uri="{BB962C8B-B14F-4D97-AF65-F5344CB8AC3E}">
        <p14:creationId xmlns:p14="http://schemas.microsoft.com/office/powerpoint/2010/main" val="106989518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5DECC81F-B9A0-B672-D696-81D562A2CC6C}"/>
              </a:ext>
            </a:extLst>
          </p:cNvPr>
          <p:cNvSpPr/>
          <p:nvPr/>
        </p:nvSpPr>
        <p:spPr>
          <a:xfrm>
            <a:off x="6286500" y="4747188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17326B78-1050-D91F-CB0B-77E7C3BDEBD1}"/>
              </a:ext>
            </a:extLst>
          </p:cNvPr>
          <p:cNvSpPr/>
          <p:nvPr/>
        </p:nvSpPr>
        <p:spPr>
          <a:xfrm>
            <a:off x="6286500" y="2832356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61423B79-9F6C-052D-974E-E9A0E0B7ABDB}"/>
              </a:ext>
            </a:extLst>
          </p:cNvPr>
          <p:cNvSpPr/>
          <p:nvPr/>
        </p:nvSpPr>
        <p:spPr>
          <a:xfrm>
            <a:off x="6286500" y="917525"/>
            <a:ext cx="5570538" cy="1666934"/>
          </a:xfrm>
          <a:prstGeom prst="roundRect">
            <a:avLst>
              <a:gd name="adj" fmla="val 877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51D59BC6-8004-F870-CECE-1C4FFB06B7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005B0424-AA26-4EA9-832B-906AB779F2A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8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6DE8A120-196C-48DC-AA16-CD22F43B9119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591637" y="1049727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285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F5D0CB6-043A-4E83-8D3D-7E7E9E2705E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591637" y="1649793"/>
            <a:ext cx="4790314" cy="779602"/>
          </a:xfrm>
        </p:spPr>
        <p:txBody>
          <a:bodyPr/>
          <a:lstStyle/>
          <a:p>
            <a:r>
              <a:t>автотестов проходят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2456D5B0-F375-49C6-A314-52E6BED10C43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591637" y="2915797"/>
            <a:ext cx="4790314" cy="563519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58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3191D1F3-2ADD-4DEE-A9D0-1FBBB993931C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591637" y="3515862"/>
            <a:ext cx="4790314" cy="869021"/>
          </a:xfrm>
        </p:spPr>
        <p:txBody>
          <a:bodyPr/>
          <a:lstStyle/>
          <a:p>
            <a:r>
              <a:t>проверок dbt на витринах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37602292-3E6F-4E28-8A49-D2719D16F852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591637" y="4871732"/>
            <a:ext cx="4790314" cy="597810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0.35 мс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AE625499-96AD-46EA-8CE7-5765B615D23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591637" y="5471798"/>
            <a:ext cx="4790314" cy="848014"/>
          </a:xfrm>
        </p:spPr>
        <p:txBody>
          <a:bodyPr/>
          <a:lstStyle/>
          <a:p>
            <a:r>
              <a:t>медиана ответа модели на устройстве</a:t>
            </a:r>
          </a:p>
        </p:txBody>
      </p:sp>
      <p:graphicFrame>
        <p:nvGraphicFramePr>
          <p:cNvPr id="10" name="Диаграмма 9">
            <a:extLst>
              <a:ext uri="{FF2B5EF4-FFF2-40B4-BE49-F238E27FC236}">
                <a16:creationId xmlns:a16="http://schemas.microsoft.com/office/drawing/2014/main" id="{E658358F-6A3F-4E56-8E2C-0059A594AB65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45485138"/>
              </p:ext>
            </p:extLst>
          </p:nvPr>
        </p:nvGraphicFramePr>
        <p:xfrm>
          <a:off x="346075" y="1424510"/>
          <a:ext cx="5749925" cy="440174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3" name="Заголовок 13">
            <a:extLst>
              <a:ext uri="{FF2B5EF4-FFF2-40B4-BE49-F238E27FC236}">
                <a16:creationId xmlns:a16="http://schemas.microsoft.com/office/drawing/2014/main" id="{CE48B21B-C4B8-5F03-1C12-E4E9E2035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2763648" cy="376138"/>
          </a:xfrm>
        </p:spPr>
        <p:txBody>
          <a:bodyPr/>
          <a:lstStyle/>
          <a:p>
            <a:r>
              <a:t>ЧТО ИЗМЕРЕНО</a:t>
            </a:r>
          </a:p>
        </p:txBody>
      </p:sp>
    </p:spTree>
    <p:extLst>
      <p:ext uri="{BB962C8B-B14F-4D97-AF65-F5344CB8AC3E}">
        <p14:creationId xmlns:p14="http://schemas.microsoft.com/office/powerpoint/2010/main" val="131323139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>
            <a:extLst>
              <a:ext uri="{FF2B5EF4-FFF2-40B4-BE49-F238E27FC236}">
                <a16:creationId xmlns:a16="http://schemas.microsoft.com/office/drawing/2014/main" id="{1DEBD50A-B557-2D80-C143-F7BE92E03371}"/>
              </a:ext>
            </a:extLst>
          </p:cNvPr>
          <p:cNvSpPr/>
          <p:nvPr/>
        </p:nvSpPr>
        <p:spPr>
          <a:xfrm>
            <a:off x="429141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id="{557A70F9-C0E6-46AE-6A65-5343A45A5968}"/>
              </a:ext>
            </a:extLst>
          </p:cNvPr>
          <p:cNvSpPr/>
          <p:nvPr/>
        </p:nvSpPr>
        <p:spPr>
          <a:xfrm>
            <a:off x="4327137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1" name="Скругленный прямоугольник 10">
            <a:extLst>
              <a:ext uri="{FF2B5EF4-FFF2-40B4-BE49-F238E27FC236}">
                <a16:creationId xmlns:a16="http://schemas.microsoft.com/office/drawing/2014/main" id="{81CF4124-313D-FA73-2EF6-2D9FE2D71D5D}"/>
              </a:ext>
            </a:extLst>
          </p:cNvPr>
          <p:cNvSpPr/>
          <p:nvPr/>
        </p:nvSpPr>
        <p:spPr>
          <a:xfrm>
            <a:off x="8225133" y="3008209"/>
            <a:ext cx="3728347" cy="3656826"/>
          </a:xfrm>
          <a:prstGeom prst="roundRect">
            <a:avLst>
              <a:gd name="adj" fmla="val 515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id="{836BC072-4CEB-1CD2-52FE-02A6094518FB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10651A50-CFFD-C440-F1DF-F703C14C9202}"/>
              </a:ext>
            </a:extLst>
          </p:cNvPr>
          <p:cNvSpPr/>
          <p:nvPr/>
        </p:nvSpPr>
        <p:spPr>
          <a:xfrm>
            <a:off x="5340262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id="{2E5EC51C-6A42-A386-6730-F35F8E0CF56A}"/>
              </a:ext>
            </a:extLst>
          </p:cNvPr>
          <p:cNvSpPr/>
          <p:nvPr/>
        </p:nvSpPr>
        <p:spPr>
          <a:xfrm>
            <a:off x="1541018" y="1366572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0C532ED-B059-4872-93FE-25291054D3D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6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08DB357-2788-42D4-93E8-1AB12DB2EE48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16304" y="328681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200"/>
              <a:t>Ребёнок 7–11 лет не связывает решение с последствием: деньги потрачены, а почему стало хуже — непонятно. Материалы по финансовой грамотности объясняют правила, но не дают их прожить.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6869BDE-34CE-47D5-B162-82211244B70A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4569890" y="3264544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200"/>
              <a:t>Игровой цикл, где последствие видно сразу и объясняется словами. Котик реагирует на качество плана, а не на сумму: «обязательное не закрыто», а не «−10 очков».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3BF91A14-DF82-4BD9-95C1-96973CFF3F64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8405081" y="3277471"/>
            <a:ext cx="3264113" cy="2375115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rPr sz="1200"/>
              <a:t>Объяснение выбирает модель, обученная на поведении, но приложение от неё не зависит: нет модели или ответ дольше 50 мс — работает правило. Экономику игры ML не меняет.</a:t>
            </a:r>
          </a:p>
        </p:txBody>
      </p:sp>
      <p:cxnSp>
        <p:nvCxnSpPr>
          <p:cNvPr id="58" name="Google Shape;2799;p94">
            <a:extLst>
              <a:ext uri="{FF2B5EF4-FFF2-40B4-BE49-F238E27FC236}">
                <a16:creationId xmlns:a16="http://schemas.microsoft.com/office/drawing/2014/main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3041995" y="2120995"/>
            <a:ext cx="2288595" cy="1147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2" name="Google Shape;2829;p94">
            <a:extLst>
              <a:ext uri="{FF2B5EF4-FFF2-40B4-BE49-F238E27FC236}">
                <a16:creationId xmlns:a16="http://schemas.microsoft.com/office/drawing/2014/main" id="{4C77747E-B18D-4A2B-BA4F-6DC51DACDF20}"/>
              </a:ext>
            </a:extLst>
          </p:cNvPr>
          <p:cNvGrpSpPr/>
          <p:nvPr/>
        </p:nvGrpSpPr>
        <p:grpSpPr>
          <a:xfrm>
            <a:off x="1899087" y="1753233"/>
            <a:ext cx="738531" cy="687909"/>
            <a:chOff x="3385734" y="2233242"/>
            <a:chExt cx="340504" cy="319542"/>
          </a:xfrm>
        </p:grpSpPr>
        <p:sp>
          <p:nvSpPr>
            <p:cNvPr id="63" name="Google Shape;2830;p94">
              <a:extLst>
                <a:ext uri="{FF2B5EF4-FFF2-40B4-BE49-F238E27FC236}">
                  <a16:creationId xmlns:a16="http://schemas.microsoft.com/office/drawing/2014/main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4" name="Google Shape;2831;p94">
              <a:extLst>
                <a:ext uri="{FF2B5EF4-FFF2-40B4-BE49-F238E27FC236}">
                  <a16:creationId xmlns:a16="http://schemas.microsoft.com/office/drawing/2014/main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5" name="Google Shape;2832;p94">
              <a:extLst>
                <a:ext uri="{FF2B5EF4-FFF2-40B4-BE49-F238E27FC236}">
                  <a16:creationId xmlns:a16="http://schemas.microsoft.com/office/drawing/2014/main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6" name="Google Shape;2833;p94">
              <a:extLst>
                <a:ext uri="{FF2B5EF4-FFF2-40B4-BE49-F238E27FC236}">
                  <a16:creationId xmlns:a16="http://schemas.microsoft.com/office/drawing/2014/main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7" name="Google Shape;2834;p94">
              <a:extLst>
                <a:ext uri="{FF2B5EF4-FFF2-40B4-BE49-F238E27FC236}">
                  <a16:creationId xmlns:a16="http://schemas.microsoft.com/office/drawing/2014/main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8" name="Google Shape;2835;p94">
              <a:extLst>
                <a:ext uri="{FF2B5EF4-FFF2-40B4-BE49-F238E27FC236}">
                  <a16:creationId xmlns:a16="http://schemas.microsoft.com/office/drawing/2014/main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69" name="Google Shape;2836;p94">
              <a:extLst>
                <a:ext uri="{FF2B5EF4-FFF2-40B4-BE49-F238E27FC236}">
                  <a16:creationId xmlns:a16="http://schemas.microsoft.com/office/drawing/2014/main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0" name="Google Shape;2837;p94">
              <a:extLst>
                <a:ext uri="{FF2B5EF4-FFF2-40B4-BE49-F238E27FC236}">
                  <a16:creationId xmlns:a16="http://schemas.microsoft.com/office/drawing/2014/main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1" name="Google Shape;2838;p94">
              <a:extLst>
                <a:ext uri="{FF2B5EF4-FFF2-40B4-BE49-F238E27FC236}">
                  <a16:creationId xmlns:a16="http://schemas.microsoft.com/office/drawing/2014/main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2" name="Google Shape;2839;p94">
              <a:extLst>
                <a:ext uri="{FF2B5EF4-FFF2-40B4-BE49-F238E27FC236}">
                  <a16:creationId xmlns:a16="http://schemas.microsoft.com/office/drawing/2014/main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3" name="Google Shape;2840;p94">
              <a:extLst>
                <a:ext uri="{FF2B5EF4-FFF2-40B4-BE49-F238E27FC236}">
                  <a16:creationId xmlns:a16="http://schemas.microsoft.com/office/drawing/2014/main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4" name="Google Shape;2841;p94">
              <a:extLst>
                <a:ext uri="{FF2B5EF4-FFF2-40B4-BE49-F238E27FC236}">
                  <a16:creationId xmlns:a16="http://schemas.microsoft.com/office/drawing/2014/main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5" name="Google Shape;2842;p94">
              <a:extLst>
                <a:ext uri="{FF2B5EF4-FFF2-40B4-BE49-F238E27FC236}">
                  <a16:creationId xmlns:a16="http://schemas.microsoft.com/office/drawing/2014/main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6" name="Google Shape;2843;p94">
              <a:extLst>
                <a:ext uri="{FF2B5EF4-FFF2-40B4-BE49-F238E27FC236}">
                  <a16:creationId xmlns:a16="http://schemas.microsoft.com/office/drawing/2014/main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80" name="Google Shape;2818;p94">
            <a:extLst>
              <a:ext uri="{FF2B5EF4-FFF2-40B4-BE49-F238E27FC236}">
                <a16:creationId xmlns:a16="http://schemas.microsoft.com/office/drawing/2014/main" id="{C0241749-B161-4D51-AE4A-9F151E800A9E}"/>
              </a:ext>
            </a:extLst>
          </p:cNvPr>
          <p:cNvGrpSpPr/>
          <p:nvPr/>
        </p:nvGrpSpPr>
        <p:grpSpPr>
          <a:xfrm>
            <a:off x="5710488" y="1722647"/>
            <a:ext cx="738531" cy="731528"/>
            <a:chOff x="4078718" y="2222819"/>
            <a:chExt cx="340504" cy="339803"/>
          </a:xfrm>
        </p:grpSpPr>
        <p:sp>
          <p:nvSpPr>
            <p:cNvPr id="84" name="Google Shape;2819;p94">
              <a:extLst>
                <a:ext uri="{FF2B5EF4-FFF2-40B4-BE49-F238E27FC236}">
                  <a16:creationId xmlns:a16="http://schemas.microsoft.com/office/drawing/2014/main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5" name="Google Shape;2820;p94">
              <a:extLst>
                <a:ext uri="{FF2B5EF4-FFF2-40B4-BE49-F238E27FC236}">
                  <a16:creationId xmlns:a16="http://schemas.microsoft.com/office/drawing/2014/main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6" name="Google Shape;2821;p94">
              <a:extLst>
                <a:ext uri="{FF2B5EF4-FFF2-40B4-BE49-F238E27FC236}">
                  <a16:creationId xmlns:a16="http://schemas.microsoft.com/office/drawing/2014/main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7" name="Google Shape;2822;p94">
              <a:extLst>
                <a:ext uri="{FF2B5EF4-FFF2-40B4-BE49-F238E27FC236}">
                  <a16:creationId xmlns:a16="http://schemas.microsoft.com/office/drawing/2014/main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8" name="Google Shape;2823;p94">
              <a:extLst>
                <a:ext uri="{FF2B5EF4-FFF2-40B4-BE49-F238E27FC236}">
                  <a16:creationId xmlns:a16="http://schemas.microsoft.com/office/drawing/2014/main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9" name="Google Shape;2824;p94">
              <a:extLst>
                <a:ext uri="{FF2B5EF4-FFF2-40B4-BE49-F238E27FC236}">
                  <a16:creationId xmlns:a16="http://schemas.microsoft.com/office/drawing/2014/main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0" name="Google Shape;2825;p94">
              <a:extLst>
                <a:ext uri="{FF2B5EF4-FFF2-40B4-BE49-F238E27FC236}">
                  <a16:creationId xmlns:a16="http://schemas.microsoft.com/office/drawing/2014/main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1" name="Google Shape;2826;p94">
              <a:extLst>
                <a:ext uri="{FF2B5EF4-FFF2-40B4-BE49-F238E27FC236}">
                  <a16:creationId xmlns:a16="http://schemas.microsoft.com/office/drawing/2014/main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2" name="Google Shape;2827;p94">
              <a:extLst>
                <a:ext uri="{FF2B5EF4-FFF2-40B4-BE49-F238E27FC236}">
                  <a16:creationId xmlns:a16="http://schemas.microsoft.com/office/drawing/2014/main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grpSp>
        <p:nvGrpSpPr>
          <p:cNvPr id="94" name="Google Shape;2805;p94">
            <a:extLst>
              <a:ext uri="{FF2B5EF4-FFF2-40B4-BE49-F238E27FC236}">
                <a16:creationId xmlns:a16="http://schemas.microsoft.com/office/drawing/2014/main" id="{5E434E9D-30AC-45F0-A79E-53D93704F0BF}"/>
              </a:ext>
            </a:extLst>
          </p:cNvPr>
          <p:cNvGrpSpPr/>
          <p:nvPr/>
        </p:nvGrpSpPr>
        <p:grpSpPr>
          <a:xfrm>
            <a:off x="9757324" y="1749715"/>
            <a:ext cx="738604" cy="694944"/>
            <a:chOff x="4754041" y="2231625"/>
            <a:chExt cx="340538" cy="322810"/>
          </a:xfrm>
        </p:grpSpPr>
        <p:sp>
          <p:nvSpPr>
            <p:cNvPr id="98" name="Google Shape;2806;p94">
              <a:extLst>
                <a:ext uri="{FF2B5EF4-FFF2-40B4-BE49-F238E27FC236}">
                  <a16:creationId xmlns:a16="http://schemas.microsoft.com/office/drawing/2014/main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FD0C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9" name="Google Shape;2807;p94">
              <a:extLst>
                <a:ext uri="{FF2B5EF4-FFF2-40B4-BE49-F238E27FC236}">
                  <a16:creationId xmlns:a16="http://schemas.microsoft.com/office/drawing/2014/main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0" name="Google Shape;2808;p94">
              <a:extLst>
                <a:ext uri="{FF2B5EF4-FFF2-40B4-BE49-F238E27FC236}">
                  <a16:creationId xmlns:a16="http://schemas.microsoft.com/office/drawing/2014/main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1" name="Google Shape;2809;p94">
              <a:extLst>
                <a:ext uri="{FF2B5EF4-FFF2-40B4-BE49-F238E27FC236}">
                  <a16:creationId xmlns:a16="http://schemas.microsoft.com/office/drawing/2014/main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2" name="Google Shape;2810;p94">
              <a:extLst>
                <a:ext uri="{FF2B5EF4-FFF2-40B4-BE49-F238E27FC236}">
                  <a16:creationId xmlns:a16="http://schemas.microsoft.com/office/drawing/2014/main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3" name="Google Shape;2811;p94">
              <a:extLst>
                <a:ext uri="{FF2B5EF4-FFF2-40B4-BE49-F238E27FC236}">
                  <a16:creationId xmlns:a16="http://schemas.microsoft.com/office/drawing/2014/main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4" name="Google Shape;2812;p94">
              <a:extLst>
                <a:ext uri="{FF2B5EF4-FFF2-40B4-BE49-F238E27FC236}">
                  <a16:creationId xmlns:a16="http://schemas.microsoft.com/office/drawing/2014/main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5" name="Google Shape;2813;p94">
              <a:extLst>
                <a:ext uri="{FF2B5EF4-FFF2-40B4-BE49-F238E27FC236}">
                  <a16:creationId xmlns:a16="http://schemas.microsoft.com/office/drawing/2014/main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6" name="Google Shape;2814;p94">
              <a:extLst>
                <a:ext uri="{FF2B5EF4-FFF2-40B4-BE49-F238E27FC236}">
                  <a16:creationId xmlns:a16="http://schemas.microsoft.com/office/drawing/2014/main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7" name="Google Shape;2815;p94">
              <a:extLst>
                <a:ext uri="{FF2B5EF4-FFF2-40B4-BE49-F238E27FC236}">
                  <a16:creationId xmlns:a16="http://schemas.microsoft.com/office/drawing/2014/main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8" name="Google Shape;2816;p94">
              <a:extLst>
                <a:ext uri="{FF2B5EF4-FFF2-40B4-BE49-F238E27FC236}">
                  <a16:creationId xmlns:a16="http://schemas.microsoft.com/office/drawing/2014/main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E4EAE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4E66C5A3-A3C5-30B4-C393-E9B38DD05805}"/>
              </a:ext>
            </a:extLst>
          </p:cNvPr>
          <p:cNvSpPr/>
          <p:nvPr/>
        </p:nvSpPr>
        <p:spPr>
          <a:xfrm>
            <a:off x="9337010" y="1396603"/>
            <a:ext cx="1504594" cy="1401168"/>
          </a:xfrm>
          <a:prstGeom prst="roundRect">
            <a:avLst/>
          </a:prstGeom>
          <a:noFill/>
          <a:ln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9" name="Заголовок 13">
            <a:extLst>
              <a:ext uri="{FF2B5EF4-FFF2-40B4-BE49-F238E27FC236}">
                <a16:creationId xmlns:a16="http://schemas.microsoft.com/office/drawing/2014/main" id="{32DE2C53-BA9C-FC6C-F0C8-C020E4D2EA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ПРОБЛЕМА И РЕШЕНИЕ</a:t>
            </a:r>
          </a:p>
        </p:txBody>
      </p:sp>
      <p:cxnSp>
        <p:nvCxnSpPr>
          <p:cNvPr id="14" name="Google Shape;2799;p94">
            <a:extLst>
              <a:ext uri="{FF2B5EF4-FFF2-40B4-BE49-F238E27FC236}">
                <a16:creationId xmlns:a16="http://schemas.microsoft.com/office/drawing/2014/main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43165" y="2119165"/>
            <a:ext cx="2489934" cy="12489"/>
          </a:xfrm>
          <a:prstGeom prst="straightConnector1">
            <a:avLst/>
          </a:prstGeom>
          <a:ln w="12700"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03451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Скругленный прямоугольник 11">
            <a:extLst>
              <a:ext uri="{FF2B5EF4-FFF2-40B4-BE49-F238E27FC236}">
                <a16:creationId xmlns:a16="http://schemas.microsoft.com/office/drawing/2014/main" id="{E0D9EF9A-DA2D-60AC-63A9-ACD551239B10}"/>
              </a:ext>
            </a:extLst>
          </p:cNvPr>
          <p:cNvSpPr/>
          <p:nvPr/>
        </p:nvSpPr>
        <p:spPr>
          <a:xfrm>
            <a:off x="346075" y="324562"/>
            <a:ext cx="3111828" cy="620919"/>
          </a:xfrm>
          <a:prstGeom prst="roundRect">
            <a:avLst>
              <a:gd name="adj" fmla="val 18706"/>
            </a:avLst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Номер слайда 12">
            <a:extLst>
              <a:ext uri="{FF2B5EF4-FFF2-40B4-BE49-F238E27FC236}">
                <a16:creationId xmlns:a16="http://schemas.microsoft.com/office/drawing/2014/main" id="{346B550E-0CFF-4A79-B1FE-2EC1424EF8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r>
              <a:t>7</a:t>
            </a:r>
          </a:p>
        </p:txBody>
      </p:sp>
      <p:sp>
        <p:nvSpPr>
          <p:cNvPr id="2" name="Текст 1">
            <a:extLst>
              <a:ext uri="{FF2B5EF4-FFF2-40B4-BE49-F238E27FC236}">
                <a16:creationId xmlns:a16="http://schemas.microsoft.com/office/drawing/2014/main" id="{89C5FEE7-8855-4287-AE2D-52539F4D5F31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Событие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BB2C021-BD44-4085-92C0-42B29CA7DD4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814077"/>
            <a:ext cx="2526079" cy="1120685"/>
          </a:xfrm>
        </p:spPr>
        <p:txBody>
          <a:bodyPr/>
          <a:lstStyle/>
          <a:p>
            <a:r>
              <a:t>Действие в приложении. Ни одного поля о человеке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1726F0F5-5C67-466D-943E-F4703B2F270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Bronze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66D4997F-BA2F-417E-957D-7B6FF608CC45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814077"/>
            <a:ext cx="2526079" cy="1120685"/>
          </a:xfrm>
        </p:spPr>
        <p:txBody>
          <a:bodyPr/>
          <a:lstStyle/>
          <a:p>
            <a:r>
              <a:t>Только добавление, дедупликация по event_id</a:t>
            </a:r>
          </a:p>
        </p:txBody>
      </p:sp>
      <p:sp>
        <p:nvSpPr>
          <p:cNvPr id="6" name="Текст 5">
            <a:extLst>
              <a:ext uri="{FF2B5EF4-FFF2-40B4-BE49-F238E27FC236}">
                <a16:creationId xmlns:a16="http://schemas.microsoft.com/office/drawing/2014/main" id="{B04BBFFE-3199-451F-A356-405FEE6461C5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458075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Silver</a:t>
            </a: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id="{6B529974-604C-48E2-AD6F-070B19225F48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814077"/>
            <a:ext cx="2526079" cy="1120685"/>
          </a:xfrm>
        </p:spPr>
        <p:txBody>
          <a:bodyPr/>
          <a:lstStyle/>
          <a:p>
            <a:r>
              <a:t>Типизированные факты, починка порядка событий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id="{9C425FA5-5D8B-4070-9FEA-743FFC23DC9C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Gold</a:t>
            </a: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id="{3E4BE6CF-D653-4C71-B520-8F640E846D62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5181340"/>
            <a:ext cx="2526079" cy="1120685"/>
          </a:xfrm>
        </p:spPr>
        <p:txBody>
          <a:bodyPr/>
          <a:lstStyle/>
          <a:p>
            <a:r>
              <a:t>7 витрин на dbt, 58 проверок качества</a:t>
            </a:r>
          </a:p>
        </p:txBody>
      </p:sp>
      <p:sp>
        <p:nvSpPr>
          <p:cNvPr id="10" name="Текст 9">
            <a:extLst>
              <a:ext uri="{FF2B5EF4-FFF2-40B4-BE49-F238E27FC236}">
                <a16:creationId xmlns:a16="http://schemas.microsoft.com/office/drawing/2014/main" id="{7FE93D78-FBF8-4CFA-B0D4-B21070DBC331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825338"/>
            <a:ext cx="2526079" cy="1476687"/>
          </a:xfrm>
          <a:prstGeom prst="roundRect">
            <a:avLst>
              <a:gd name="adj" fmla="val 0"/>
            </a:avLst>
          </a:prstGeom>
          <a:noFill/>
        </p:spPr>
        <p:txBody>
          <a:bodyPr/>
          <a:lstStyle/>
          <a:p>
            <a:r>
              <a:t>Модель</a:t>
            </a:r>
          </a:p>
        </p:txBody>
      </p:sp>
      <p:sp>
        <p:nvSpPr>
          <p:cNvPr id="11" name="Текст 10">
            <a:extLst>
              <a:ext uri="{FF2B5EF4-FFF2-40B4-BE49-F238E27FC236}">
                <a16:creationId xmlns:a16="http://schemas.microsoft.com/office/drawing/2014/main" id="{931BD573-963A-40B6-8E80-802A897ACB26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5181340"/>
            <a:ext cx="2526079" cy="1120685"/>
          </a:xfrm>
        </p:spPr>
        <p:txBody>
          <a:bodyPr/>
          <a:lstStyle/>
          <a:p>
            <a:r>
              <a:t>Гейт качества, ONNX, проверка совпадения ответов</a:t>
            </a:r>
          </a:p>
        </p:txBody>
      </p:sp>
      <p:cxnSp>
        <p:nvCxnSpPr>
          <p:cNvPr id="34" name="Прямая соединительная линия 33">
            <a:extLst>
              <a:ext uri="{FF2B5EF4-FFF2-40B4-BE49-F238E27FC236}">
                <a16:creationId xmlns:a16="http://schemas.microsoft.com/office/drawing/2014/main" id="{FED623D4-5E7E-44FB-A655-80D9166ACECF}"/>
              </a:ext>
            </a:extLst>
          </p:cNvPr>
          <p:cNvCxnSpPr>
            <a:cxnSpLocks/>
          </p:cNvCxnSpPr>
          <p:nvPr/>
        </p:nvCxnSpPr>
        <p:spPr>
          <a:xfrm>
            <a:off x="2065940" y="3860224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Прямая соединительная линия 34">
            <a:extLst>
              <a:ext uri="{FF2B5EF4-FFF2-40B4-BE49-F238E27FC236}">
                <a16:creationId xmlns:a16="http://schemas.microsoft.com/office/drawing/2014/main" id="{13BC568E-FCE4-46A3-933D-4F9F8325A813}"/>
              </a:ext>
            </a:extLst>
          </p:cNvPr>
          <p:cNvCxnSpPr>
            <a:cxnSpLocks/>
          </p:cNvCxnSpPr>
          <p:nvPr/>
        </p:nvCxnSpPr>
        <p:spPr>
          <a:xfrm>
            <a:off x="4312137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Прямая соединительная линия 35">
            <a:extLst>
              <a:ext uri="{FF2B5EF4-FFF2-40B4-BE49-F238E27FC236}">
                <a16:creationId xmlns:a16="http://schemas.microsoft.com/office/drawing/2014/main" id="{043ABED0-AC0F-4D92-AB29-318DAE79D38B}"/>
              </a:ext>
            </a:extLst>
          </p:cNvPr>
          <p:cNvCxnSpPr>
            <a:cxnSpLocks/>
          </p:cNvCxnSpPr>
          <p:nvPr/>
        </p:nvCxnSpPr>
        <p:spPr>
          <a:xfrm>
            <a:off x="6558334" y="3862139"/>
            <a:ext cx="1332546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Прямая соединительная линия 36">
            <a:extLst>
              <a:ext uri="{FF2B5EF4-FFF2-40B4-BE49-F238E27FC236}">
                <a16:creationId xmlns:a16="http://schemas.microsoft.com/office/drawing/2014/main" id="{836D684E-425A-4867-B96C-B1550D2326EC}"/>
              </a:ext>
            </a:extLst>
          </p:cNvPr>
          <p:cNvCxnSpPr>
            <a:cxnSpLocks/>
          </p:cNvCxnSpPr>
          <p:nvPr/>
        </p:nvCxnSpPr>
        <p:spPr>
          <a:xfrm>
            <a:off x="8780467" y="3862139"/>
            <a:ext cx="1332545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Прямая соединительная линия 37">
            <a:extLst>
              <a:ext uri="{FF2B5EF4-FFF2-40B4-BE49-F238E27FC236}">
                <a16:creationId xmlns:a16="http://schemas.microsoft.com/office/drawing/2014/main" id="{81B30F67-B043-4D47-8D41-EA47E7D98286}"/>
              </a:ext>
            </a:extLst>
          </p:cNvPr>
          <p:cNvCxnSpPr>
            <a:cxnSpLocks/>
          </p:cNvCxnSpPr>
          <p:nvPr/>
        </p:nvCxnSpPr>
        <p:spPr>
          <a:xfrm>
            <a:off x="1609114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Прямая соединительная линия 38">
            <a:extLst>
              <a:ext uri="{FF2B5EF4-FFF2-40B4-BE49-F238E27FC236}">
                <a16:creationId xmlns:a16="http://schemas.microsoft.com/office/drawing/2014/main" id="{B41E618C-6887-4F78-8BEC-4C2ABC30AC44}"/>
              </a:ext>
            </a:extLst>
          </p:cNvPr>
          <p:cNvCxnSpPr>
            <a:cxnSpLocks/>
          </p:cNvCxnSpPr>
          <p:nvPr/>
        </p:nvCxnSpPr>
        <p:spPr>
          <a:xfrm>
            <a:off x="3855312" y="4216228"/>
            <a:ext cx="1245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Прямая соединительная линия 39">
            <a:extLst>
              <a:ext uri="{FF2B5EF4-FFF2-40B4-BE49-F238E27FC236}">
                <a16:creationId xmlns:a16="http://schemas.microsoft.com/office/drawing/2014/main" id="{DE971D4E-B203-4B09-93F8-D53951540777}"/>
              </a:ext>
            </a:extLst>
          </p:cNvPr>
          <p:cNvCxnSpPr>
            <a:cxnSpLocks/>
          </p:cNvCxnSpPr>
          <p:nvPr/>
        </p:nvCxnSpPr>
        <p:spPr>
          <a:xfrm>
            <a:off x="6096000" y="2934762"/>
            <a:ext cx="5509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Прямая соединительная линия 40">
            <a:extLst>
              <a:ext uri="{FF2B5EF4-FFF2-40B4-BE49-F238E27FC236}">
                <a16:creationId xmlns:a16="http://schemas.microsoft.com/office/drawing/2014/main" id="{2BF27CC0-A85F-4C49-884A-649E718F232A}"/>
              </a:ext>
            </a:extLst>
          </p:cNvPr>
          <p:cNvCxnSpPr>
            <a:cxnSpLocks/>
          </p:cNvCxnSpPr>
          <p:nvPr/>
        </p:nvCxnSpPr>
        <p:spPr>
          <a:xfrm flipH="1">
            <a:off x="8343442" y="4216228"/>
            <a:ext cx="4264" cy="575062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Прямая соединительная линия 41">
            <a:extLst>
              <a:ext uri="{FF2B5EF4-FFF2-40B4-BE49-F238E27FC236}">
                <a16:creationId xmlns:a16="http://schemas.microsoft.com/office/drawing/2014/main" id="{8A19CF67-915F-4390-A30E-945C95016756}"/>
              </a:ext>
            </a:extLst>
          </p:cNvPr>
          <p:cNvCxnSpPr>
            <a:cxnSpLocks/>
          </p:cNvCxnSpPr>
          <p:nvPr/>
        </p:nvCxnSpPr>
        <p:spPr>
          <a:xfrm>
            <a:off x="10593901" y="2934762"/>
            <a:ext cx="1" cy="573287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Скругленный прямоугольник 42">
            <a:extLst>
              <a:ext uri="{FF2B5EF4-FFF2-40B4-BE49-F238E27FC236}">
                <a16:creationId xmlns:a16="http://schemas.microsoft.com/office/drawing/2014/main" id="{4E8CC8D8-3B02-4108-71E4-BDF385E41A76}"/>
              </a:ext>
            </a:extLst>
          </p:cNvPr>
          <p:cNvSpPr/>
          <p:nvPr/>
        </p:nvSpPr>
        <p:spPr>
          <a:xfrm>
            <a:off x="1191126" y="3508049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1</a:t>
            </a:r>
          </a:p>
        </p:txBody>
      </p:sp>
      <p:sp>
        <p:nvSpPr>
          <p:cNvPr id="44" name="Скругленный прямоугольник 43">
            <a:extLst>
              <a:ext uri="{FF2B5EF4-FFF2-40B4-BE49-F238E27FC236}">
                <a16:creationId xmlns:a16="http://schemas.microsoft.com/office/drawing/2014/main" id="{219852BA-89EA-AEC0-D3BB-81E4FBB78FBF}"/>
              </a:ext>
            </a:extLst>
          </p:cNvPr>
          <p:cNvSpPr/>
          <p:nvPr/>
        </p:nvSpPr>
        <p:spPr>
          <a:xfrm>
            <a:off x="3412397" y="350613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2</a:t>
            </a:r>
          </a:p>
        </p:txBody>
      </p:sp>
      <p:sp>
        <p:nvSpPr>
          <p:cNvPr id="45" name="Скругленный прямоугольник 44">
            <a:extLst>
              <a:ext uri="{FF2B5EF4-FFF2-40B4-BE49-F238E27FC236}">
                <a16:creationId xmlns:a16="http://schemas.microsoft.com/office/drawing/2014/main" id="{BEB80488-DBD5-60E2-7B94-2C03FD2F73EC}"/>
              </a:ext>
            </a:extLst>
          </p:cNvPr>
          <p:cNvSpPr/>
          <p:nvPr/>
        </p:nvSpPr>
        <p:spPr>
          <a:xfrm>
            <a:off x="5658594" y="351625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3</a:t>
            </a:r>
          </a:p>
        </p:txBody>
      </p:sp>
      <p:sp>
        <p:nvSpPr>
          <p:cNvPr id="53" name="Скругленный прямоугольник 52">
            <a:extLst>
              <a:ext uri="{FF2B5EF4-FFF2-40B4-BE49-F238E27FC236}">
                <a16:creationId xmlns:a16="http://schemas.microsoft.com/office/drawing/2014/main" id="{41C3924C-4DE8-D413-3F15-F71BBA421983}"/>
              </a:ext>
            </a:extLst>
          </p:cNvPr>
          <p:cNvSpPr/>
          <p:nvPr/>
        </p:nvSpPr>
        <p:spPr>
          <a:xfrm>
            <a:off x="7889752" y="3506135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4</a:t>
            </a:r>
          </a:p>
        </p:txBody>
      </p:sp>
      <p:sp>
        <p:nvSpPr>
          <p:cNvPr id="54" name="Скругленный прямоугольник 53">
            <a:extLst>
              <a:ext uri="{FF2B5EF4-FFF2-40B4-BE49-F238E27FC236}">
                <a16:creationId xmlns:a16="http://schemas.microsoft.com/office/drawing/2014/main" id="{5040D480-3D0A-377D-EDA1-4B45E5CE44A4}"/>
              </a:ext>
            </a:extLst>
          </p:cNvPr>
          <p:cNvSpPr/>
          <p:nvPr/>
        </p:nvSpPr>
        <p:spPr>
          <a:xfrm>
            <a:off x="10113012" y="3538626"/>
            <a:ext cx="874814" cy="708179"/>
          </a:xfrm>
          <a:prstGeom prst="roundRect">
            <a:avLst/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r>
              <a:rPr lang="ru-RU" sz="2400" b="1" dirty="0"/>
              <a:t>5</a:t>
            </a:r>
          </a:p>
        </p:txBody>
      </p:sp>
      <p:sp>
        <p:nvSpPr>
          <p:cNvPr id="15" name="Заголовок 13">
            <a:extLst>
              <a:ext uri="{FF2B5EF4-FFF2-40B4-BE49-F238E27FC236}">
                <a16:creationId xmlns:a16="http://schemas.microsoft.com/office/drawing/2014/main" id="{325CF155-14B8-5628-119D-7449CFD5B0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21226"/>
            <a:ext cx="9862734" cy="376138"/>
          </a:xfrm>
        </p:spPr>
        <p:txBody>
          <a:bodyPr/>
          <a:lstStyle/>
          <a:p>
            <a:r>
              <a:t>ПУТЬ ДАННЫХ: ОТ ДЕЙСТВИЯ РЕБЁНКА ДО ПОДСКАЗКИ</a:t>
            </a:r>
          </a:p>
        </p:txBody>
      </p:sp>
      <p:sp>
        <p:nvSpPr>
          <p:cNvPr id="14" name="Скругленный прямоугольник 13">
            <a:extLst>
              <a:ext uri="{FF2B5EF4-FFF2-40B4-BE49-F238E27FC236}">
                <a16:creationId xmlns:a16="http://schemas.microsoft.com/office/drawing/2014/main" id="{BD4BFEA8-37B5-92D1-855E-4FF06BA59DA3}"/>
              </a:ext>
            </a:extLst>
          </p:cNvPr>
          <p:cNvSpPr/>
          <p:nvPr/>
        </p:nvSpPr>
        <p:spPr>
          <a:xfrm>
            <a:off x="1864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6" name="Скругленный прямоугольник 15">
            <a:extLst>
              <a:ext uri="{FF2B5EF4-FFF2-40B4-BE49-F238E27FC236}">
                <a16:creationId xmlns:a16="http://schemas.microsoft.com/office/drawing/2014/main" id="{21820900-0645-FD25-E909-18D394EFF3AF}"/>
              </a:ext>
            </a:extLst>
          </p:cNvPr>
          <p:cNvSpPr/>
          <p:nvPr/>
        </p:nvSpPr>
        <p:spPr>
          <a:xfrm>
            <a:off x="46441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id="{996865AC-684A-E392-11F5-A3160D858242}"/>
              </a:ext>
            </a:extLst>
          </p:cNvPr>
          <p:cNvSpPr/>
          <p:nvPr/>
        </p:nvSpPr>
        <p:spPr>
          <a:xfrm>
            <a:off x="9101880" y="1370651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8" name="Скругленный прямоугольник 17">
            <a:extLst>
              <a:ext uri="{FF2B5EF4-FFF2-40B4-BE49-F238E27FC236}">
                <a16:creationId xmlns:a16="http://schemas.microsoft.com/office/drawing/2014/main" id="{1557C0D9-E1EE-FF6F-28CC-F2CF230BFDBA}"/>
              </a:ext>
            </a:extLst>
          </p:cNvPr>
          <p:cNvSpPr/>
          <p:nvPr/>
        </p:nvSpPr>
        <p:spPr>
          <a:xfrm>
            <a:off x="2471878" y="4825338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  <p:sp>
        <p:nvSpPr>
          <p:cNvPr id="19" name="Скругленный прямоугольник 18">
            <a:extLst>
              <a:ext uri="{FF2B5EF4-FFF2-40B4-BE49-F238E27FC236}">
                <a16:creationId xmlns:a16="http://schemas.microsoft.com/office/drawing/2014/main" id="{BC511278-171F-4030-656D-F6DA5B6264BC}"/>
              </a:ext>
            </a:extLst>
          </p:cNvPr>
          <p:cNvSpPr/>
          <p:nvPr/>
        </p:nvSpPr>
        <p:spPr>
          <a:xfrm>
            <a:off x="6948708" y="4791290"/>
            <a:ext cx="2836197" cy="1581312"/>
          </a:xfrm>
          <a:prstGeom prst="roundRect">
            <a:avLst>
              <a:gd name="adj" fmla="val 10884"/>
            </a:avLst>
          </a:prstGeom>
          <a:noFill/>
          <a:ln w="12700" cap="flat" cmpd="sng" algn="ctr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ru-RU" sz="2400" b="1" dirty="0"/>
          </a:p>
        </p:txBody>
      </p:sp>
    </p:spTree>
    <p:extLst>
      <p:ext uri="{BB962C8B-B14F-4D97-AF65-F5344CB8AC3E}">
        <p14:creationId xmlns:p14="http://schemas.microsoft.com/office/powerpoint/2010/main" val="2194599202"/>
      </p:ext>
    </p:extLst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11023</TotalTime>
  <Words>633</Words>
  <Application>Microsoft Macintosh PowerPoint</Application>
  <PresentationFormat>Широкоэкранный</PresentationFormat>
  <Paragraphs>192</Paragraphs>
  <Slides>37</Slides>
  <Notes>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37</vt:i4>
      </vt:variant>
    </vt:vector>
  </HeadingPairs>
  <TitlesOfParts>
    <vt:vector size="45" baseType="lpstr">
      <vt:lpstr>Arial</vt:lpstr>
      <vt:lpstr>Calibri</vt:lpstr>
      <vt:lpstr>Lato Light</vt:lpstr>
      <vt:lpstr>Montserrat</vt:lpstr>
      <vt:lpstr>Montserrat Medium</vt:lpstr>
      <vt:lpstr>Poppins Light</vt:lpstr>
      <vt:lpstr>Wingdings</vt:lpstr>
      <vt:lpstr>Для Академия инноваторов 16_9</vt:lpstr>
      <vt:lpstr>Презентация PowerPoint</vt:lpstr>
      <vt:lpstr>ВВОДНЫЕ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КОРОТКО О РЕШЕНИИ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Полезные материалы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Microsoft Office User</cp:lastModifiedBy>
  <cp:revision>95</cp:revision>
  <dcterms:created xsi:type="dcterms:W3CDTF">2023-05-15T07:36:23Z</dcterms:created>
  <dcterms:modified xsi:type="dcterms:W3CDTF">2026-09-14T11:14:59Z</dcterms:modified>
</cp:coreProperties>
</file>