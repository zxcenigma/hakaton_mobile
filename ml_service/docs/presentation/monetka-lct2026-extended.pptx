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267" r:id="rId26"/>
    <p:sldId id="263" r:id="rId22"/>
    <p:sldId id="370" r:id="rId16"/>
    <p:sldId id="262" r:id="rId21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6" Type="http://schemas.openxmlformats.org/officeDocument/2006/relationships/slide" Target="slides/slide15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Точность выбора объяснения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Модель</c:v>
                </c:pt>
                <c:pt idx="1">
                  <c:v>Базовый выбор</c:v>
                </c:pt>
                <c:pt idx="2">
                  <c:v>Порог гейта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0.8415</c:v>
                </c:pt>
                <c:pt idx="1">
                  <c:v>0.3333</c:v>
                </c:pt>
                <c:pt idx="2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FFFFFF">
                <a:lumMod val="15000"/>
                <a:lumOff val="85000"/>
              </a:srgb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FFFFFF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‹ЗАПОЛНИТЬ› название команды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  <p:txBody>
          <a:bodyPr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rPr>
                <a:solidFill>
                  <a:srgbClr val="FFFFFF"/>
                </a:solidFill>
              </a:rPr>
              <a:t>«Монетка» — Департамент финансов города Москвы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rgbClr val="1C1D22"/>
                </a:solidFill>
              </a:rPr>
              <a:t>Каждое решение объясняется словами, а не баллами. Объяснение выбирает модель, но при её отказе или ответе дольше 50 мс работает правило — приложение полноценно и без сети, и без ML. Экономику игры модели не трогают: цены и доход одинаковы для всех. Персональные данные детей не собираются — это проверяет код.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Капитан: ‹ЗАПОЛНИТЬ› ФИО, специальность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Кол-во участников: ‹ЗАПОЛНИТЬ› сколько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Краткое описание: ‹ЗАПОЛНИТЬ› как собрались, где учитесь или работаете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rgbClr val="1C1D22"/>
                </a:solidFill>
              </a:rPr>
              <a:t>Город и регион: ‹ЗАПОЛНИТЬ› город, регион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О ПРОЕКТЕ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rgbClr val="520977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rgbClr val="1C1D22"/>
                </a:solidFill>
              </a:rPr>
              <a:t>Приложение для детей 7–11 лет: ребёнок получает доход, делит его между обязательным, желаемым и накоплениями, покупает в каталоге и копит на цель. Котик отражает качество решений — последствие видно сразу. Взрослый видит прогресс отдельно. Основной цикл работает офлайн, без сервера.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>
                <a:solidFill>
                  <a:srgbClr val="1C1D22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место работы/учёбы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‹ЗАПОЛНИТЬ› 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место работы/учёбы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‹ЗАПОЛНИТЬ› 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место работы/учёбы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‹ЗАПОЛНИТЬ› 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rgbClr val="FFFFFF"/>
                </a:solidFill>
              </a:rPr>
              <a:t>‹ЗАПОЛНИТЬ› место работы/учёбы</a:t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‹ЗАПОЛНИТЬ› 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rgbClr val="FFFFFF"/>
                </a:solidFill>
              </a:rPr>
              <a:t>‹ЗАПОЛНИТЬ› роль в команде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rgbClr val="FFFFFF"/>
                </a:solidFill>
              </a:rPr>
              <a:t>‹ЗАПОЛНИТЬ› ник в мессенджере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rgbClr val="FFFFFF"/>
                </a:solidFill>
              </a:rPr>
              <a:t>‹ЗАПОЛНИТЬ› номер телефона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rgbClr val="FFFFFF"/>
                </a:solidFill>
              </a:rPr>
              <a:t>‹ЗАПОЛНИТЬ› место работы/учёбы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rgbClr val="FFD6E3"/>
                </a:solidFill>
              </a:rPr>
              <a:t>‹ЗАПОЛНИТЬ› 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1C1D22"/>
                </a:solidFill>
              </a:rPr>
              <a:t>4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КАК МЫ РАБОТАЛИ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C1D22"/>
                </a:solidFill>
              </a:rPr>
              <a:t>‹ЗАПОЛНИТЬ› как собрались, участвовали ли вместе раньше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C1D22"/>
                </a:solidFill>
              </a:rPr>
              <a:t>Главная трудность была не технической, а методической: доказать, что ML здесь уместен. ТЗ его не требует, поэтому мы ограничили модели тем, что можно обосновать, и запретили им трогать игровую экономику отдельным решением в репозитории.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C1D22"/>
                </a:solidFill>
              </a:rPr>
              <a:t>Техническая часть проверялась запуском, а не тестами: 285 тестов проходили, а в контейнере сервис падал — путь к данным вычислялся от исходников, которых в образе нет. Так нашлись четыре ошибки, которые не видны из чекаута.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rgbClr val="520977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C1D22"/>
                </a:solidFill>
              </a:rPr>
              <a:t>Финансовую грамотность детям обычно объясняют текстом и тестами. Здесь можно показать последствия решения сразу и мягко: котик остался голодным, потому что обязательное не закрыто. Это та задача, где интерфейс учит лучше, чем объяснение.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rgbClr val="520977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rgbClr val="520977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rgbClr val="52097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rgbClr val="FFFFFF"/>
                </a:solidFill>
              </a:rPr>
              <a:t>Игровой цикл выполняется целиком на устройстве: локальная база, сеть не требуется (ТЗ §3.1.5).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Машинное обучение ТЗ не требует: §2.7.5 выносит его за обязательный минимум. Мы применяем его только там, где §3.2 это допускает, и отвечаем на все три условия пункта.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Задача. Три модели: какое объяснение показать в «Советнике», в каком порядке предложить задания, какие периоды передать методисту на проверку. Игровую экономику не изменяет ни одна — запрет зафиксирован отдельным решением в репозитории.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Данные. Только синтетическая телеметрия. Персональные данные детей не собираются: контракты событий отвергают такие поля, сборка останавливается, API возвращает 422.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Контроль корректности. Модель не выкладывается, если не прошла порог, и дополнительно должна быть не хуже действующей. Выборка делится по игрокам, а не по строкам. После конвертации в ONNX проверяется совпадение ответов с исходной моделью. Ведётся мониторинг дрейфа.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Граница применимости выведена из измерений: точность распознавания падает с 0.83 на четвёртом периоде до 0.46 на десятом, поэтому после пятого периода модель воздерживается и ответ формирует правило.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rgbClr val="FFFFFF"/>
                </a:solidFill>
              </a:rPr>
              <a:t>Стек: Python, DuckDB, dbt, Iceberg, Trino, Redpanda, MLflow, FastAPI, ONNX Runtime, Docker Compose.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rgbClr val="FFFFFF"/>
                </a:solidFill>
              </a:rPr>
              <a:t>Внедрение начинается с пилота в школах и библиотеках. Приложение работает офлайн, поэтому не требует ни сети в классе, ни регистрации ребёнка, и разворачивается там, где обычный сервис недоступен.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Каталог, задания и цели изменяются без пересборки приложения: методист обновляет материал самостоятельно, в том числе под тематические недели финансовой грамотности.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Раздел взрослого имеет самостоятельную ценность: родитель получает не оценку ребёнка, а темы для разговора. На этом строится подписка, базовая часть остаётся бесплатной.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Три довода в пользу решения. Первый: каждый показатель измерен и воспроизводится одной командой — 309 автотестов, 82 % покрытия, 58 проверок dbt, 14 проверок качества данных. Второй: стек разворачивается целиком и проверен в работе — хранилище пишется и читается, API отвечает за 0.5 мс при бюджете 50 мс. Третий: мы показываем не только то, что модель работает, но и границу, за которой она перестаёт быть полезной, и что происходит за этой границей.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rgbClr val="FFFFFF"/>
                </a:solidFill>
              </a:rPr>
              <a:t>Платформа данных переносится на другие просветительские продукты департамента: меняется источник событий, конвейер сохраняется.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>
                <a:solidFill>
                  <a:srgbClr val="FFFFFF"/>
                </a:solidFill>
              </a:rPr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rgbClr val="FFD6E3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rgbClr val="FFD6E3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КАК ЗАКРЫТО ТЗ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§3.1.5 — основной цикл работает офлайн, на устройстве, без сервера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§3.2 — у каждой модели названы задача, данные и контроль корректности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§3.5 — персональные данные детей не собираются, это проверяет код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§2.5.7 — срок достижения цели считается объяснимой формулой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§3.4 — в репозитории нет паролей, токенов и ключей, проверяет CI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9</a:t>
            </a: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r>
              <a:rPr sz="1300">
                <a:solidFill>
                  <a:srgbClr val="1C1D22"/>
                </a:solidFill>
              </a:rPr>
              <a:t>Пилот в школах и библиотеках: офлайн, без регистрации ребёнка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Раздел взрослого — разговорные поводы, а не оценка ребёнка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Обновление заданий и каталога без пересборки приложения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Проверка эффекта на когортах: сравнение объяснений по группам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Перенос платформы данных на другие продукты департамента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§5.12 — перечень сторонних библиотек и лицензий поддерживается в репозитории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10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ЧТО ДАЛЬШЕ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321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автотестов проходят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58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проверок dbt на витринах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0.35 мс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медиана ответа модели на устройстве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63648" cy="376138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ЧТО ИЗМЕРЕНО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>
                <a:solidFill>
                  <a:srgbClr val="FFFFFF"/>
                </a:solidFill>
              </a:rPr>
              <a:t>Ребёнок 7–11 лет не связывает решение с последствием: деньги потрачены, а почему стало хуже — непонятно. Материалы по финансовой грамотности объясняют правила, но не дают их прожить.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>
                <a:solidFill>
                  <a:srgbClr val="FFFFFF"/>
                </a:solidFill>
              </a:rPr>
              <a:t>Игровой цикл, где последствие видно сразу и объясняется словами. Котик реагирует на качество плана, а не на сумму: «обязательное не закрыто», а не «−10 очков».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>
                <a:solidFill>
                  <a:srgbClr val="FFFFFF"/>
                </a:solidFill>
              </a:rPr>
              <a:t>Объяснение выбирает модель, обученная на поведении, но приложение от неё не зависит: нет модели или ответ дольше 50 мс — работает правило. Экономику игры ML не меняет.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ПРОБЛЕМА И РЕШЕНИЕ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>
                <a:solidFill>
                  <a:srgbClr val="1C1D22"/>
                </a:solidFill>
              </a:rPr>
              <a:t>7</a:t>
            </a: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Событие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Действие в приложении. Ни одного поля о человеке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Bronze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Только добавление, дедупликация по event_id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Silver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Типизированные факты, починка порядка событий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Gold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7 витрин на dbt, 58 проверок качества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Модель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Гейт качества, ONNX, проверка совпадения ответов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solidFill>
                  <a:srgbClr val="1C1D22"/>
                </a:solidFill>
              </a:rPr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solidFill>
                  <a:srgbClr val="1C1D22"/>
                </a:solidFill>
              </a:rPr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solidFill>
                  <a:srgbClr val="1C1D22"/>
                </a:solidFill>
              </a:rPr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solidFill>
                  <a:srgbClr val="1C1D22"/>
                </a:solidFill>
              </a:rPr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solidFill>
                  <a:srgbClr val="1C1D22"/>
                </a:solidFill>
              </a:rPr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rgbClr val="1C1D22"/>
                </a:solidFill>
              </a:rPr>
              <a:t>ПУТЬ ДАННЫХ: ОТ ДЕЙСТВИЯ РЕБЁНКА ДО ПОДСКАЗКИ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