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5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64" r:id="rId11"/>
    <p:sldId id="375" r:id="rId12"/>
    <p:sldId id="268" r:id="rId25"/>
    <p:sldId id="267" r:id="rId26"/>
    <p:sldId id="263" r:id="rId22"/>
    <p:sldId id="370" r:id="rId16"/>
    <p:sldId id="262" r:id="rId21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6" Type="http://schemas.openxmlformats.org/officeDocument/2006/relationships/slide" Target="slides/slide15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____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1688300241682354E-2"/>
          <c:y val="0.12693525390367644"/>
          <c:w val="0.92608602339057544"/>
          <c:h val="0.667471422716611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Точность выбора объяснения</c:v>
                </c:pt>
              </c:strCache>
            </c:strRef>
          </c:tx>
          <c:spPr>
            <a:solidFill>
              <a:schemeClr val="accent1"/>
            </a:solidFill>
            <a:ln w="63500"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Модель</c:v>
                </c:pt>
                <c:pt idx="1">
                  <c:v>Базовый выбор</c:v>
                </c:pt>
                <c:pt idx="2">
                  <c:v>Порог гейта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0.8415</c:v>
                </c:pt>
                <c:pt idx="1">
                  <c:v>0.3333</c:v>
                </c:pt>
                <c:pt idx="2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86-41F6-8A85-7879D9C60F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1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3.0340673321854045E-2"/>
          <c:y val="0.93820074285734689"/>
          <c:w val="0.94740055839426573"/>
          <c:h val="6.179925714265312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14.09.2026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14.09.2026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14.09.2026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14.09.2026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r>
              <a:t>‹ЗАПОЛНИТЬ› название команды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F88AFFF3-DF8C-2AA0-1E6F-AEE5FC354B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5186" y="329801"/>
            <a:ext cx="5193299" cy="1082589"/>
          </a:xfrm>
        </p:spPr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r>
              <a:t>«Монетка» — Департамент финансов города Москвы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35267"/>
            <a:ext cx="6456363" cy="2971784"/>
          </a:xfrm>
        </p:spPr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Каждое решение ребёнка объясняется словами, а не баллами: приложение всегда называет причину. Объяснение выбирает модель, но если она недоступна или отвечает дольше 50 мс — показывается правило, поэтому приложение полноценно работает без сети и без ML. Экономику игры модели не трогают вообще: цены и доход одинаковы для всех. Персональные данные детей не собираются — это проверяет код, а не обещает документация.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‹ЗАПОЛНИТЬ› ФИО, специальность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‹ЗАПОЛНИТЬ› человек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‹ЗАПОЛНИТЬ› как образовалась команда,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место работы/учёбы участников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 ‹ЗАПОЛНИТЬ›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t>О ПРОЕКТЕ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Мобильное приложение для детей 7–11 лет: ребёнок получает доход, распределяет его между обязательным, желаемым и накоплениями, покупает в каталоге и копит на цель. Состояние виртуального котика отражает качество решений и делает последствия наглядными. Взрослый видит прогресс в отдельном разделе. Основной цикл работает офлайн, без сервера.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‹ЗАПОЛНИТЬ› роль в команде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‹ЗАПОЛНИТЬ› ник в мессенджере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‹ЗАПОЛНИТЬ› номер телефона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‹ЗАПОЛНИТЬ› место работы/учёбы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‹ЗАПОЛНИТЬ› Имя Фамилия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‹ЗАПОЛНИТЬ› роль в команде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‹ЗАПОЛНИТЬ› ник в мессенджере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‹ЗАПОЛНИТЬ› номер телефона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‹ЗАПОЛНИТЬ› место работы/учёбы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‹ЗАПОЛНИТЬ› Имя Фамилия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726203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‹ЗАПОЛНИТЬ› роль в команде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‹ЗАПОЛНИТЬ› ник в мессенджере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‹ЗАПОЛНИТЬ› номер телефона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‹ЗАПОЛНИТЬ› место работы/учёбы</a:t>
            </a: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‹ЗАПОЛНИТЬ› Имя Фамилия</a:t>
            </a:r>
          </a:p>
        </p:txBody>
      </p:sp>
      <p:sp>
        <p:nvSpPr>
          <p:cNvPr id="65" name="Скругленный прямоугольник 64">
            <a:extLst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/>
          <p:nvPr/>
        </p:nvSpPr>
        <p:spPr>
          <a:xfrm>
            <a:off x="9567349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6" name="Текст 8">
            <a:extLst>
              <a:ext uri="{FF2B5EF4-FFF2-40B4-BE49-F238E27FC236}">
                <a16:creationId xmlns:a16="http://schemas.microsoft.com/office/drawing/2014/main" id="{575DCA32-E606-5EE7-1034-420DB36234D1}"/>
              </a:ext>
            </a:extLst>
          </p:cNvPr>
          <p:cNvSpPr txBox="1">
            <a:spLocks/>
          </p:cNvSpPr>
          <p:nvPr/>
        </p:nvSpPr>
        <p:spPr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‹ЗАПОЛНИТЬ› роль в команде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‹ЗАПОЛНИТЬ› ник в мессенджере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‹ЗАПОЛНИТЬ› номер телефона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‹ЗАПОЛНИТЬ› место работы/учёбы</a:t>
            </a:r>
          </a:p>
        </p:txBody>
      </p:sp>
      <p:sp>
        <p:nvSpPr>
          <p:cNvPr id="67" name="Текст 8">
            <a:extLst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 txBox="1">
            <a:spLocks/>
          </p:cNvSpPr>
          <p:nvPr/>
        </p:nvSpPr>
        <p:spPr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‹ЗАПОЛНИТЬ› Имя Фамилия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81397" y="1816054"/>
            <a:ext cx="1722566" cy="1552901"/>
          </a:xfrm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886467" y="1826554"/>
            <a:ext cx="1722566" cy="1542401"/>
          </a:xfrm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191784" y="1809238"/>
            <a:ext cx="1722567" cy="1559717"/>
          </a:xfrm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D6C4749F-7C67-9CD8-7C7C-023BB23DC622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7520208" y="1809238"/>
            <a:ext cx="1722567" cy="1559717"/>
          </a:xfrm>
        </p:spPr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B1F74E3B-D178-4815-DD0C-A02592AA14E6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9802422" y="1809238"/>
            <a:ext cx="1722566" cy="1559717"/>
          </a:xfrm>
        </p:spPr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t>КОМАНДА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‹ЗАПОЛНИТЬ› роль в команде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‹ЗАПОЛНИТЬ› ник в мессенджере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‹ЗАПОЛНИТЬ› номер телефона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‹ЗАПОЛНИТЬ› место работы/учёбы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‹ЗАПОЛНИТЬ› Имя Фамилия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t>КАК МЫ РАБОТАЛИ</a:t>
            </a: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‹ЗАПОЛНИТЬ› как собрались, участвовали ли вместе раньше, интересные факты о команде.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Главная трудность была не технической, а методической: доказать, что ML здесь уместен. ТЗ его не требует, поэтому мы ограничили модели тем, что можно обосновать, и запретили им трогать игровую экономику отдельным решением в репозитории.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Техническая часть проверялась запуском, а не тестами: 285 тестов проходили, а в контейнере сервис падал — путь к данным вычислялся от исходников, которых в образе нет. Так нашлись четыре ошибки, которые не видны из чекаута.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Финансовую грамотность детям обычно объясняют текстом и тестами. Здесь можно показать последствия решения сразу и мягко: котик остался голодным, потому что обязательное не закрыто. Это та задача, где интерфейс учит лучше, чем объяснение.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t>5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100" dirty="0">
                <a:solidFill>
                  <a:schemeClr val="tx1"/>
                </a:solidFill>
              </a:rPr>
              <a:t>Приложение на Flutter, игровой цикл целиком на устройстве: локальная база, никакой зависимости от сети.</a:t>
            </a:r>
          </a:p>
          <a:p>
            <a:r>
              <a:rPr lang="ru-RU" sz="1100" dirty="0">
                <a:solidFill>
                  <a:schemeClr val="tx1"/>
                </a:solidFill>
              </a:rPr>
              <a:t/>
            </a:r>
          </a:p>
          <a:p>
            <a:r>
              <a:rPr lang="ru-RU" sz="1100" dirty="0">
                <a:solidFill>
                  <a:schemeClr val="tx1"/>
                </a:solidFill>
              </a:rPr>
              <a:t>Рядом — сервис данных и ML. События приложения проходят по слоям bronze → silver → gold (dbt), обучение идёт с гейтами качества: модель не выкладывается, если не прошла порог. Модели конвертируются в ONNX и проверяются на совпадение ответов с исходной версией, после чего работают прямо на устройстве.</a:t>
            </a:r>
          </a:p>
          <a:p>
            <a:r>
              <a:rPr lang="ru-RU" sz="1100" dirty="0">
                <a:solidFill>
                  <a:schemeClr val="tx1"/>
                </a:solidFill>
              </a:rPr>
              <a:t/>
            </a:r>
          </a:p>
          <a:p>
            <a:r>
              <a:rPr lang="ru-RU" sz="1100" dirty="0">
                <a:solidFill>
                  <a:schemeClr val="tx1"/>
                </a:solidFill>
              </a:rPr>
              <a:t>Стек: Python, DuckDB, dbt, Iceberg, Trino, Redpanda, MLflow, FastAPI, ONNX Runtime, Docker Compose.</a:t>
            </a:r>
          </a:p>
          <a:p>
            <a:r>
              <a:rPr lang="ru-RU" sz="1100" dirty="0">
                <a:solidFill>
                  <a:schemeClr val="tx1"/>
                </a:solidFill>
              </a:rPr>
              <a:t/>
            </a:r>
          </a:p>
          <a:p>
            <a:r>
              <a:rPr lang="ru-RU" sz="1100" dirty="0">
                <a:solidFill>
                  <a:schemeClr val="tx1"/>
                </a:solidFill>
              </a:rPr>
              <a:t>Персональные данные детей не собираются: контракты событий отвергают такие поля, и сборка падает.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lang="ru-RU" sz="1100" dirty="0">
                <a:solidFill>
                  <a:schemeClr val="tx1"/>
                </a:solidFill>
              </a:rPr>
              <a:t>Ближайшее — пилот в московских школах и библиотеках: приложение работает офлайн, поэтому не требует ни сети в классе, ни регистрации ребёнка.</a:t>
            </a:r>
            <a:br>
              <a:rPr lang="ru-RU" sz="1400" dirty="0">
                <a:solidFill>
                  <a:schemeClr val="tx1"/>
                </a:solidFill>
              </a:rPr>
            </a:br>
          </a:p>
          <a:p>
            <a:r>
              <a:rPr lang="ru-RU" sz="1100" dirty="0">
                <a:solidFill>
                  <a:schemeClr val="tx1"/>
                </a:solidFill>
              </a:rPr>
              <a:t/>
            </a:r>
            <a:br>
              <a:rPr lang="ru-RU" sz="1400" dirty="0">
                <a:solidFill>
                  <a:schemeClr val="tx1"/>
                </a:solidFill>
              </a:rPr>
            </a:br>
          </a:p>
          <a:p>
            <a:r>
              <a:rPr lang="ru-RU" sz="1100" dirty="0">
                <a:solidFill>
                  <a:schemeClr val="tx1"/>
                </a:solidFill>
              </a:rPr>
              <a:t>Содержание каталога, заданий и целей меняется без пересборки приложения, поэтому методист может обновлять материал сам — в том числе под тематические недели финансовой грамотности.</a:t>
            </a:r>
            <a:br>
              <a:rPr lang="ru-RU" sz="1400" dirty="0">
                <a:solidFill>
                  <a:schemeClr val="tx1"/>
                </a:solidFill>
              </a:rPr>
            </a:br>
          </a:p>
          <a:p>
            <a:r>
              <a:rPr lang="ru-RU" sz="1100" dirty="0">
                <a:solidFill>
                  <a:schemeClr val="tx1"/>
                </a:solidFill>
              </a:rPr>
              <a:t/>
            </a:r>
            <a:br>
              <a:rPr lang="ru-RU" sz="1400" dirty="0">
                <a:solidFill>
                  <a:schemeClr val="tx1"/>
                </a:solidFill>
              </a:rPr>
            </a:br>
          </a:p>
          <a:p>
            <a:r>
              <a:rPr lang="ru-RU" sz="1100" dirty="0">
                <a:solidFill>
                  <a:schemeClr val="tx1"/>
                </a:solidFill>
              </a:rPr>
              <a:t>Дальше — раздел для взрослого как отдельная ценность: родитель видит не оценку ребёнка, а разговорные поводы. На этом строится подписка, не ограничивая базовую бесплатную часть.</a:t>
            </a:r>
            <a:br>
              <a:rPr lang="ru-RU" sz="1400" dirty="0">
                <a:solidFill>
                  <a:schemeClr val="tx1"/>
                </a:solidFill>
              </a:rPr>
            </a:br>
          </a:p>
          <a:p>
            <a:r>
              <a:rPr lang="ru-RU" sz="1100" dirty="0">
                <a:solidFill>
                  <a:schemeClr val="tx1"/>
                </a:solidFill>
              </a:rPr>
              <a:t/>
            </a:r>
            <a:br>
              <a:rPr lang="ru-RU" sz="1400" dirty="0">
                <a:solidFill>
                  <a:schemeClr val="tx1"/>
                </a:solidFill>
              </a:rPr>
            </a:br>
          </a:p>
          <a:p>
            <a:r>
              <a:rPr lang="ru-RU" sz="1100" dirty="0">
                <a:solidFill>
                  <a:schemeClr val="tx1"/>
                </a:solidFill>
              </a:rPr>
              <a:t>Платформа данных переносится на другие просветительские продукты департамента: меняется источник событий, конвейер остаётся.</a:t>
            </a:r>
            <a:br>
              <a:rPr lang="ru-RU" sz="1400" dirty="0">
                <a:solidFill>
                  <a:schemeClr val="tx1"/>
                </a:solidFill>
              </a:rPr>
            </a:b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664B9-F30D-B51A-EC08-2389E212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90" y="370426"/>
            <a:ext cx="5562510" cy="442374"/>
          </a:xfrm>
        </p:spPr>
        <p:txBody>
          <a:bodyPr/>
          <a:lstStyle/>
          <a:p>
            <a:r>
              <a:t>КАК ЗАКРЫТО ТЗ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2DB1C19-1756-5691-5F80-177F3A79D3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1133" y="1695025"/>
            <a:ext cx="4902200" cy="712587"/>
          </a:xfrm>
        </p:spPr>
        <p:txBody>
          <a:bodyPr/>
          <a:lstStyle/>
          <a:p>
            <a:r>
              <a:rPr sz="1300"/>
              <a:t>§3.1.5 — основной цикл работает офлайн, на устройстве, без сервера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0CC1337-8037-C8D6-4F63-245C2AF4E7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133" y="2552035"/>
            <a:ext cx="4902200" cy="712587"/>
          </a:xfrm>
        </p:spPr>
        <p:txBody>
          <a:bodyPr/>
          <a:lstStyle/>
          <a:p>
            <a:r>
              <a:rPr sz="1300"/>
              <a:t>§3.2 — у каждой модели названы задача, данные и контроль корректности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35A27D79-7CA2-000D-5EC5-DB6887DB4E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133" y="3409044"/>
            <a:ext cx="4902200" cy="712587"/>
          </a:xfrm>
        </p:spPr>
        <p:txBody>
          <a:bodyPr/>
          <a:lstStyle/>
          <a:p>
            <a:r>
              <a:rPr sz="1300"/>
              <a:t>§3.5 — персональные данные детей не собираются, это проверяет код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49701722-A703-6CF6-2014-059F040DC5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133" y="4266053"/>
            <a:ext cx="4902200" cy="712587"/>
          </a:xfrm>
        </p:spPr>
        <p:txBody>
          <a:bodyPr/>
          <a:lstStyle/>
          <a:p>
            <a:r>
              <a:rPr sz="1300"/>
              <a:t>§2.5.7 — срок достижения цели считается объяснимой формулой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DE50EEA6-DEC5-5666-7D6D-27F8E37664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1133" y="5123063"/>
            <a:ext cx="4902200" cy="712587"/>
          </a:xfrm>
        </p:spPr>
        <p:txBody>
          <a:bodyPr/>
          <a:lstStyle/>
          <a:p>
            <a:r>
              <a:rPr sz="1300"/>
              <a:t>§3.4 — в репозитории нет паролей, токенов и ключей, проверяет CI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41475" y="6356350"/>
            <a:ext cx="558800" cy="365125"/>
          </a:xfrm>
        </p:spPr>
        <p:txBody>
          <a:bodyPr/>
          <a:lstStyle/>
          <a:p>
            <a:r>
              <a:t>9</a:t>
            </a: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40756DD-053E-22C9-6492-BAE6C92C555E}"/>
              </a:ext>
            </a:extLst>
          </p:cNvPr>
          <p:cNvCxnSpPr>
            <a:cxnSpLocks/>
          </p:cNvCxnSpPr>
          <p:nvPr/>
        </p:nvCxn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0DEE536-8C7E-5FF9-89E1-82A9988D844D}"/>
              </a:ext>
            </a:extLst>
          </p:cNvPr>
          <p:cNvCxnSpPr>
            <a:cxnSpLocks/>
          </p:cNvCxnSpPr>
          <p:nvPr/>
        </p:nvCxn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52340B-BDE2-4108-BF09-DF1807F1208F}"/>
              </a:ext>
            </a:extLst>
          </p:cNvPr>
          <p:cNvCxnSpPr>
            <a:cxnSpLocks/>
          </p:cNvCxnSpPr>
          <p:nvPr/>
        </p:nvCxn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D24F87D-A790-746E-F6AE-485B863A9B3E}"/>
              </a:ext>
            </a:extLst>
          </p:cNvPr>
          <p:cNvCxnSpPr>
            <a:cxnSpLocks/>
          </p:cNvCxnSpPr>
          <p:nvPr/>
        </p:nvCxn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9081A8-2E23-9ED5-DAF3-7F8B5653DD5D}"/>
              </a:ext>
            </a:extLst>
          </p:cNvPr>
          <p:cNvCxnSpPr>
            <a:cxnSpLocks/>
          </p:cNvCxnSpPr>
          <p:nvPr/>
        </p:nvCxn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7936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7" y="1732103"/>
            <a:ext cx="4734175" cy="4139307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sz="1300"/>
              <a:t>Пилот в школах и библиотеках: офлайн, без регистрации ребёнка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445505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sz="1300"/>
              <a:t>Раздел взрослого — разговорные поводы, а не оценка ребёнка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2472872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sz="1300"/>
              <a:t>Обновление заданий и каталога без пересборки приложения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730" y="3485922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sz="1300"/>
              <a:t>Проверка эффекта на когортах: сравнение объяснений по группам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2730" y="4496593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sz="1300"/>
              <a:t>Перенос платформы данных на другие продукты департамента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2730" y="5516924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sz="1300"/>
              <a:t>§5.12 — перечень сторонних библиотек и лицензий поддерживается в репозитории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r>
              <a:t>10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ЧТО ДАЛЬШЕ</a:t>
            </a:r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DECC81F-B9A0-B672-D696-81D562A2CC6C}"/>
              </a:ext>
            </a:extLst>
          </p:cNvPr>
          <p:cNvSpPr/>
          <p:nvPr/>
        </p:nvSpPr>
        <p:spPr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7326B78-1050-D91F-CB0B-77E7C3BDEBD1}"/>
              </a:ext>
            </a:extLst>
          </p:cNvPr>
          <p:cNvSpPr/>
          <p:nvPr/>
        </p:nvSpPr>
        <p:spPr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61423B79-9F6C-052D-974E-E9A0E0B7ABDB}"/>
              </a:ext>
            </a:extLst>
          </p:cNvPr>
          <p:cNvSpPr/>
          <p:nvPr/>
        </p:nvSpPr>
        <p:spPr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1D59BC6-8004-F870-CECE-1C4FFB06B7FB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5B0424-AA26-4EA9-832B-906AB779F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t>8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E8A120-196C-48DC-AA16-CD22F43B911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t>300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5D0CB6-043A-4E83-8D3D-7E7E9E2705E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91637" y="1649793"/>
            <a:ext cx="4790314" cy="779602"/>
          </a:xfrm>
        </p:spPr>
        <p:txBody>
          <a:bodyPr/>
          <a:lstStyle/>
          <a:p>
            <a:r>
              <a:t>автотестов проходят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56D5B0-F375-49C6-A314-52E6BED10C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t>58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191D1F3-2ADD-4DEE-A9D0-1FBBB993931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91637" y="3515862"/>
            <a:ext cx="4790314" cy="869021"/>
          </a:xfrm>
        </p:spPr>
        <p:txBody>
          <a:bodyPr/>
          <a:lstStyle/>
          <a:p>
            <a:r>
              <a:t>проверок dbt на витринах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7602292-3E6F-4E28-8A49-D2719D16F85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t>0.35 мс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E625499-96AD-46EA-8CE7-5765B615D23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91637" y="5471798"/>
            <a:ext cx="4790314" cy="848014"/>
          </a:xfrm>
        </p:spPr>
        <p:txBody>
          <a:bodyPr/>
          <a:lstStyle/>
          <a:p>
            <a:r>
              <a:t>медиана ответа модели на устройстве</a:t>
            </a: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E658358F-6A3F-4E56-8E2C-0059A594AB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5485138"/>
              </p:ext>
            </p:extLst>
          </p:nvPr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E48B21B-C4B8-5F03-1C12-E4E9E203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2763648" cy="376138"/>
          </a:xfrm>
        </p:spPr>
        <p:txBody>
          <a:bodyPr/>
          <a:lstStyle/>
          <a:p>
            <a:r>
              <a:t>ЧТО ИЗМЕРЕНО</a:t>
            </a:r>
          </a:p>
        </p:txBody>
      </p:sp>
    </p:spTree>
    <p:extLst>
      <p:ext uri="{BB962C8B-B14F-4D97-AF65-F5344CB8AC3E}">
        <p14:creationId xmlns:p14="http://schemas.microsoft.com/office/powerpoint/2010/main" val="13132313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t>6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sz="1200"/>
              <a:t>Ребёнок 7–11 лет не связывает решение с последствием: деньги потрачены, а почему стало хуже — непонятно. Материалы по финансовой грамотности объясняют правила, но не дают их прожить.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sz="1200"/>
              <a:t>Игровой цикл, где последствие видно сразу и объясняется словами. Котик реагирует на качество плана, а не на сумму: «обязательное не закрыто», а не «−10 очков».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sz="1200"/>
              <a:t>Объяснение выбирает модель, обученная на поведении, но приложение от неё не зависит: нет модели или ответ дольше 50 мс — работает правило. Экономику игры ML не меняет.</a:t>
            </a: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ПРОБЛЕМА И РЕШЕНИЕ</a:t>
            </a:r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t>7</a:t>
            </a: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t>Событие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814077"/>
            <a:ext cx="2526079" cy="1120685"/>
          </a:xfrm>
        </p:spPr>
        <p:txBody>
          <a:bodyPr/>
          <a:lstStyle/>
          <a:p>
            <a:r>
              <a:t>Действие в приложении. Ни одного поля о человеке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t>Bronze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814077"/>
            <a:ext cx="2526079" cy="1120685"/>
          </a:xfrm>
        </p:spPr>
        <p:txBody>
          <a:bodyPr/>
          <a:lstStyle/>
          <a:p>
            <a:r>
              <a:t>Только добавление, дедупликация по event_id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t>Silver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814077"/>
            <a:ext cx="2526079" cy="1120685"/>
          </a:xfrm>
        </p:spPr>
        <p:txBody>
          <a:bodyPr/>
          <a:lstStyle/>
          <a:p>
            <a:r>
              <a:t>Типизированные факты, починка порядка событий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t>Gold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5181340"/>
            <a:ext cx="2526079" cy="1120685"/>
          </a:xfrm>
        </p:spPr>
        <p:txBody>
          <a:bodyPr/>
          <a:lstStyle/>
          <a:p>
            <a:r>
              <a:t>7 витрин на dbt, 58 проверок качества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t>Модель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5181340"/>
            <a:ext cx="2526079" cy="1120685"/>
          </a:xfrm>
        </p:spPr>
        <p:txBody>
          <a:bodyPr/>
          <a:lstStyle/>
          <a:p>
            <a:r>
              <a:t>Гейт качества, ONNX, проверка совпадения ответов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ПУТЬ ДАННЫХ: ОТ ДЕЙСТВИЯ РЕБЁНКА ДО ПОДСКАЗКИ</a:t>
            </a: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633</Words>
  <Application>Microsoft Macintosh PowerPoint</Application>
  <PresentationFormat>Широкоэкранный</PresentationFormat>
  <Paragraphs>192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Microsoft Office User</cp:lastModifiedBy>
  <cp:revision>95</cp:revision>
  <dcterms:created xsi:type="dcterms:W3CDTF">2023-05-15T07:36:23Z</dcterms:created>
  <dcterms:modified xsi:type="dcterms:W3CDTF">2026-09-14T11:14:59Z</dcterms:modified>
</cp:coreProperties>
</file>